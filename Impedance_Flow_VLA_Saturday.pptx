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FB2D9"/>
                </a:solidFill>
                <a:latin typeface="Calibri"/>
              </a:rPr>
              <a:t>ROBOT LEARNING  ·  FLOW-MATCHING POLICIES  ·  CONTACT-RICH MANIPULATION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Impedance-Shaped Flow Matching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for VLA Policies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C4CFDA"/>
                </a:solidFill>
                <a:latin typeface="Calibri"/>
              </a:rPr>
              <a:t>Making the action expert's flow-ODE drift a closed-loop impedance law — compliance becomes structural, not a downstream add-on.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703320"/>
            <a:ext cx="10874959" cy="1234440"/>
          </a:xfrm>
          <a:prstGeom prst="roundRect">
            <a:avLst>
              <a:gd name="adj" fmla="val 6000"/>
            </a:avLst>
          </a:prstGeom>
          <a:solidFill>
            <a:srgbClr val="1B2633"/>
          </a:solidFill>
          <a:ln w="12700">
            <a:solidFill>
              <a:srgbClr val="2C3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m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843800"/>
            <a:ext cx="10326319" cy="9626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9893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IS Lab · Changwon National University</a:t>
            </a:r>
            <a:r>
              <a:rPr sz="1400" b="0" i="0">
                <a:solidFill>
                  <a:srgbClr val="9FADBC"/>
                </a:solidFill>
                <a:latin typeface="Calibri"/>
              </a:rPr>
              <a:t>        Group presentation — Saturday, 2026-05-30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HOW WE GOT HERE  · 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We started somewhere else: Adjoint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Prior project: </a:t>
            </a:r>
            <a:r>
              <a:rPr sz="1500" b="0" i="0">
                <a:solidFill>
                  <a:srgbClr val="1E2630"/>
                </a:solidFill>
                <a:latin typeface="Calibri"/>
              </a:rPr>
              <a:t>“Why attention explanations for flow-matching robot policies are provably wrong.”  Use the </a:t>
            </a:r>
            <a:r>
              <a:rPr sz="1500" b="1" i="0">
                <a:solidFill>
                  <a:srgbClr val="1F77B4"/>
                </a:solidFill>
                <a:latin typeface="Calibri"/>
              </a:rPr>
              <a:t>adjoint sensitivity</a:t>
            </a:r>
            <a:r>
              <a:rPr sz="1500" b="0" i="0">
                <a:solidFill>
                  <a:srgbClr val="1E2630"/>
                </a:solidFill>
                <a:latin typeface="Calibri"/>
              </a:rPr>
              <a:t> of the action-generating ODE as the principled attribution. Four bids for novelty: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31720"/>
            <a:ext cx="2512999" cy="246888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2512999" cy="566928"/>
          </a:xfrm>
          <a:prstGeom prst="roundRect">
            <a:avLst>
              <a:gd name="adj" fmla="val 5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651760"/>
            <a:ext cx="2512999" cy="246888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251299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HYPOTHESIS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063240"/>
            <a:ext cx="218381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Attention is “provably wrong”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Attention maps disagree with true ODE sensitivity.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5687" y="2331720"/>
            <a:ext cx="2512999" cy="246888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5687" y="2331720"/>
            <a:ext cx="2512999" cy="566928"/>
          </a:xfrm>
          <a:prstGeom prst="roundRect">
            <a:avLst>
              <a:gd name="adj" fmla="val 5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45687" y="2651760"/>
            <a:ext cx="2512999" cy="246888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5687" y="2377440"/>
            <a:ext cx="251299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HYPOTHESIS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0279" y="3063240"/>
            <a:ext cx="218381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Second-order / interaction adjoint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Go beyond first-order gradients — curvature &amp; token interactions.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2331720"/>
            <a:ext cx="2512999" cy="246888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3007" y="2331720"/>
            <a:ext cx="2512999" cy="566928"/>
          </a:xfrm>
          <a:prstGeom prst="roundRect">
            <a:avLst>
              <a:gd name="adj" fmla="val 5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2651760"/>
            <a:ext cx="2512999" cy="246888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3007" y="2377440"/>
            <a:ext cx="251299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HYPOTHESIS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7599" y="3063240"/>
            <a:ext cx="218381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Adjoint-KL fine-tuning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Use the adjoint signal to fine-tune the policy (performance lever).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0327" y="2331720"/>
            <a:ext cx="2512999" cy="246888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20327" y="2331720"/>
            <a:ext cx="2512999" cy="566928"/>
          </a:xfrm>
          <a:prstGeom prst="roundRect">
            <a:avLst>
              <a:gd name="adj" fmla="val 5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0327" y="2651760"/>
            <a:ext cx="2512999" cy="246888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20327" y="2377440"/>
            <a:ext cx="251299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HYPOTHESIS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4919" y="3063240"/>
            <a:ext cx="218381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Test-time goal-steering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470"/>
                </a:solidFill>
                <a:latin typeface="Calibri"/>
              </a:rPr>
              <a:t>Steer generation along adjoint directions at inference.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02920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The goal we set: </a:t>
            </a:r>
            <a:r>
              <a:rPr sz="1500" b="1" i="0">
                <a:solidFill>
                  <a:srgbClr val="1F77B4"/>
                </a:solidFill>
                <a:latin typeface="Calibri"/>
              </a:rPr>
              <a:t>genuine novelty </a:t>
            </a:r>
            <a:r>
              <a:rPr sz="1500" b="0" i="0">
                <a:solidFill>
                  <a:srgbClr val="1E2630"/>
                </a:solidFill>
                <a:latin typeface="Calibri"/>
              </a:rPr>
              <a:t>+ an </a:t>
            </a:r>
            <a:r>
              <a:rPr sz="1500" b="1" i="0">
                <a:solidFill>
                  <a:srgbClr val="1F77B4"/>
                </a:solidFill>
                <a:latin typeface="Calibri"/>
              </a:rPr>
              <a:t>improving number</a:t>
            </a:r>
            <a:r>
              <a:rPr sz="1500" b="0" i="0">
                <a:solidFill>
                  <a:srgbClr val="1E2630"/>
                </a:solidFill>
                <a:latin typeface="Calibri"/>
              </a:rPr>
              <a:t>. Every one of these four was tested against that 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HOW WE GOT HERE  · 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… and why we abandoned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17904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17904"/>
            <a:ext cx="91440" cy="67665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17904"/>
            <a:ext cx="5029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1517904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Attention “provably wrong”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17904"/>
            <a:ext cx="66687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Confound.  </a:t>
            </a:r>
            <a:r>
              <a:rPr sz="1300" b="0" i="0">
                <a:solidFill>
                  <a:srgbClr val="1E2630"/>
                </a:solidFill>
                <a:latin typeface="Calibri"/>
              </a:rPr>
              <a:t>Attention vs adjoint actually agree on rank (Spearman +0.52, top-1 100%) once token granularity is matched.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304288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304288"/>
            <a:ext cx="91440" cy="67665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304288"/>
            <a:ext cx="5029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304288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2nd-order interaction adjoint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304288"/>
            <a:ext cx="66687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Scale artifact.  </a:t>
            </a:r>
            <a:r>
              <a:rPr sz="1300" b="0" i="0">
                <a:solidFill>
                  <a:srgbClr val="1E2630"/>
                </a:solidFill>
                <a:latin typeface="Calibri"/>
              </a:rPr>
              <a:t>The 90–122× state-token curvature was an embedding-norm effect (state ≈7 vs image ≈3700, ~518×).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90672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090672"/>
            <a:ext cx="91440" cy="67665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90672"/>
            <a:ext cx="5029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3090672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Adjoint-KL fine-tuning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3090672"/>
            <a:ext cx="66687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Null.  </a:t>
            </a:r>
            <a:r>
              <a:rPr sz="1300" b="0" i="0">
                <a:solidFill>
                  <a:srgbClr val="1E2630"/>
                </a:solidFill>
                <a:latin typeface="Calibri"/>
              </a:rPr>
              <a:t>+1.7 vs a proper control — inside the noise at n = 12.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877056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877056"/>
            <a:ext cx="91440" cy="67665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877056"/>
            <a:ext cx="5029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0392B"/>
                </a:solidFill>
                <a:latin typeface="Calibr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7048" y="3877056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Test-time goal-steering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73168" y="3877056"/>
            <a:ext cx="66687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Net-negative.  </a:t>
            </a:r>
            <a:r>
              <a:rPr sz="1300" b="0" i="0">
                <a:solidFill>
                  <a:srgbClr val="1E2630"/>
                </a:solidFill>
                <a:latin typeface="Calibri"/>
              </a:rPr>
              <a:t>Helps free-space reach (37→75%) but collapses every contact task (push, window → 0%).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6817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875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681728"/>
            <a:ext cx="91440" cy="713232"/>
          </a:xfrm>
          <a:prstGeom prst="rect">
            <a:avLst/>
          </a:prstGeom>
          <a:solidFill>
            <a:srgbClr val="21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681728"/>
            <a:ext cx="5029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17A46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4681728"/>
            <a:ext cx="986911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17A46"/>
                </a:solidFill>
                <a:latin typeface="Calibri"/>
              </a:rPr>
              <a:t>One result survived (analysis-only): </a:t>
            </a:r>
            <a:r>
              <a:rPr sz="1250" b="0" i="0">
                <a:solidFill>
                  <a:srgbClr val="1E2630"/>
                </a:solidFill>
                <a:latin typeface="Calibri"/>
              </a:rPr>
              <a:t>an interventional ground truth showed attention's modality ranking is the </a:t>
            </a:r>
            <a:r>
              <a:rPr sz="1250" b="1" i="0">
                <a:solidFill>
                  <a:srgbClr val="1E2630"/>
                </a:solidFill>
                <a:latin typeface="Calibri"/>
              </a:rPr>
              <a:t>reverse</a:t>
            </a:r>
            <a:r>
              <a:rPr sz="1250" b="0" i="0">
                <a:solidFill>
                  <a:srgbClr val="1E2630"/>
                </a:solidFill>
                <a:latin typeface="Calibri"/>
              </a:rPr>
              <a:t> of causal truth, and the adjoint's matches. Not the method/perf paper we wanted → </a:t>
            </a:r>
            <a:r>
              <a:rPr sz="1250" b="1" i="0">
                <a:solidFill>
                  <a:srgbClr val="C0392B"/>
                </a:solidFill>
                <a:latin typeface="Calibri"/>
              </a:rPr>
              <a:t>abandoned.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50468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77B4"/>
                </a:solidFill>
                <a:latin typeface="Calibri"/>
              </a:rPr>
              <a:t>Lesson kept: </a:t>
            </a:r>
            <a:r>
              <a:rPr sz="1350" b="0" i="0">
                <a:solidFill>
                  <a:srgbClr val="1E2630"/>
                </a:solidFill>
                <a:latin typeface="Calibri"/>
              </a:rPr>
              <a:t>model-internal attributions evaporate under scale/granularity normalization. Validate the core object in isolation, clear a kill-gate before scaling, report numbers honestly.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From explaining compliance to building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1087495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E2630"/>
                </a:solidFill>
                <a:latin typeface="Calibri"/>
              </a:rPr>
              <a:t>If steering a trained flow policy </a:t>
            </a:r>
            <a:r>
              <a:rPr sz="1800" b="1" i="0">
                <a:solidFill>
                  <a:srgbClr val="C0392B"/>
                </a:solidFill>
                <a:latin typeface="Calibri"/>
              </a:rPr>
              <a:t>collapses</a:t>
            </a:r>
            <a:r>
              <a:rPr sz="1800" b="0" i="0">
                <a:solidFill>
                  <a:srgbClr val="1E2630"/>
                </a:solidFill>
                <a:latin typeface="Calibri"/>
              </a:rPr>
              <a:t> contact tasks, the problem isn't the explanation — the policy has </a:t>
            </a:r>
            <a:r>
              <a:rPr sz="1800" b="1" i="0">
                <a:solidFill>
                  <a:srgbClr val="1F77B4"/>
                </a:solidFill>
                <a:latin typeface="Calibri"/>
              </a:rPr>
              <a:t>no notion of physical compliance</a:t>
            </a:r>
            <a:r>
              <a:rPr sz="1800" b="0" i="0">
                <a:solidFill>
                  <a:srgbClr val="1E2630"/>
                </a:solidFill>
                <a:latin typeface="Calibri"/>
              </a:rPr>
              <a:t> in how it generates motion.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E2630"/>
                </a:solidFill>
                <a:latin typeface="Calibri"/>
              </a:rPr>
              <a:t>So stop </a:t>
            </a:r>
            <a:r>
              <a:rPr sz="1800" b="0" i="1">
                <a:solidFill>
                  <a:srgbClr val="1E2630"/>
                </a:solidFill>
                <a:latin typeface="Calibri"/>
              </a:rPr>
              <a:t>attributing</a:t>
            </a:r>
            <a:r>
              <a:rPr sz="1800" b="0" i="0">
                <a:solidFill>
                  <a:srgbClr val="1E2630"/>
                </a:solidFill>
                <a:latin typeface="Calibri"/>
              </a:rPr>
              <a:t> behaviour after the fact. Build the right inductive bias </a:t>
            </a:r>
            <a:r>
              <a:rPr sz="1800" b="1" i="0">
                <a:solidFill>
                  <a:srgbClr val="1E2630"/>
                </a:solidFill>
                <a:latin typeface="Calibri"/>
              </a:rPr>
              <a:t>into the generator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57600"/>
            <a:ext cx="5254599" cy="2103120"/>
          </a:xfrm>
          <a:prstGeom prst="roundRect">
            <a:avLst>
              <a:gd name="adj" fmla="val 4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886200"/>
            <a:ext cx="4705959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BEFORE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E2630"/>
                </a:solidFill>
                <a:latin typeface="Calibri"/>
              </a:rPr>
              <a:t>Unstructured neural drift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Compliance bolted on downstream (external controller / F-T sensor), or merely explained post-hoc.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3657600"/>
            <a:ext cx="5254599" cy="210312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5875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047" y="3886200"/>
            <a:ext cx="4705959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F77B4"/>
                </a:solidFill>
                <a:latin typeface="Calibri"/>
              </a:rPr>
              <a:t>OURS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E2630"/>
                </a:solidFill>
                <a:latin typeface="Calibri"/>
              </a:rPr>
              <a:t>Drift IS an impedance law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E2630"/>
                </a:solidFill>
                <a:latin typeface="Calibri"/>
              </a:rPr>
              <a:t>A closed-loop mass–spring–damper attractor, end-to-end differentiable, baked into the flow ODE. No downstream controller.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247" y="44348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F77B4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THE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The one new object: an impedance-shaped flow drift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10874959" cy="137160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5875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q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7" y="1934926"/>
            <a:ext cx="10234879" cy="7021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310896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5B6470"/>
                </a:solidFill>
                <a:latin typeface="Calibri"/>
              </a:rPr>
              <a:t>The flow-matching action expert's ODE velocity field is itself a 2nd-order closed-loop impedance law.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721608"/>
            <a:ext cx="146304" cy="42062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7" y="365760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77B4"/>
                </a:solidFill>
                <a:latin typeface="Calibri"/>
              </a:rPr>
              <a:t>M, K,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3657600"/>
            <a:ext cx="7948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E2630"/>
                </a:solidFill>
                <a:latin typeface="Calibri"/>
              </a:rPr>
              <a:t>task-conditioned SPD matrices (mass / stiffness / damping), Cholesky-parameterized, predicted from features.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379976"/>
            <a:ext cx="146304" cy="42062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7" y="431596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77B4"/>
                </a:solidFill>
                <a:latin typeface="Calibri"/>
              </a:rPr>
              <a:t>ȧ — velocity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4315968"/>
            <a:ext cx="7948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E2630"/>
                </a:solidFill>
                <a:latin typeface="Calibri"/>
              </a:rPr>
              <a:t>the flow is a 2nd-order augmented ODE, integrated semi-implicitly (symplectic Euler). The naive finite-difference form is unstable — the toy gate proved it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038344"/>
            <a:ext cx="146304" cy="42062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974336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77B4"/>
                </a:solidFill>
                <a:latin typeface="Calibri"/>
              </a:rPr>
              <a:t>a_goal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4974336"/>
            <a:ext cx="7948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E2630"/>
                </a:solidFill>
                <a:latin typeface="Calibri"/>
              </a:rPr>
              <a:t>an attractor (chunk target or a predicted attractor token) the drift is pulled toward.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696712"/>
            <a:ext cx="146304" cy="42062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7" y="5632703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77B4"/>
                </a:solidFill>
                <a:latin typeface="Calibri"/>
              </a:rPr>
              <a:t>End-to-end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4448" y="5632703"/>
            <a:ext cx="7948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E2630"/>
                </a:solidFill>
                <a:latin typeface="Calibri"/>
              </a:rPr>
              <a:t>fully differentiable. No downstream controller. No force/torque sensor at inference.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Why it's novel — and what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10874959" cy="841248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54480"/>
            <a:ext cx="33832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CompliantVLA-adaptor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554480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Predicts K, D from a VLM but feeds an EXTERNAL impedance controller wrapped around a frozen VLA.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841248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05456"/>
            <a:ext cx="33832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Flow with the Force 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505456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Standard unstructured flow drift + a DOWNSTREAM passive impedance controller for compliance.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10874959" cy="841248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456432"/>
            <a:ext cx="33832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2630"/>
                </a:solidFill>
                <a:latin typeface="Calibri"/>
              </a:rPr>
              <a:t>ACP / Diffusion-Impedance / DMP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3456432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Stiffness lives on the OUTPUT head or a DMP decoder — not in the generative drift.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425696"/>
            <a:ext cx="10874959" cy="1051560"/>
          </a:xfrm>
          <a:prstGeom prst="roundRect">
            <a:avLst>
              <a:gd name="adj" fmla="val 5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425696"/>
            <a:ext cx="1014343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Ours: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the velocity field IS the impedance law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2EEF8"/>
                </a:solidFill>
                <a:latin typeface="Calibri"/>
              </a:rPr>
              <a:t>A closed-loop K/D/M attractor conditioned on features, embedded inside the action expert — end-to-end, no external controller, no F/T sensor. (The prior-art check confirms this intersection is unclaimed as of May 2026.)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EXPLAINABLE SIMULATION  · 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How one action is generated through the flow 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2325376" y="1472184"/>
            <a:ext cx="7540942" cy="3703320"/>
          </a:xfrm>
          <a:prstGeom prst="rect">
            <a:avLst/>
          </a:prstGeom>
          <a:solidFill>
            <a:srgbClr val="1E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mechanism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1096" y="1517904"/>
            <a:ext cx="7449502" cy="3611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75807" y="3003803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5807" y="29032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096" y="5184648"/>
            <a:ext cx="744950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▶  click to play in Slide Show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03520"/>
            <a:ext cx="108749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0"/>
                </a:solidFill>
                <a:latin typeface="Calibri"/>
              </a:rPr>
              <a:t>Vanilla flow</a:t>
            </a:r>
            <a:r>
              <a:rPr sz="1500" b="0" i="0">
                <a:solidFill>
                  <a:srgbClr val="1E2630"/>
                </a:solidFill>
                <a:latin typeface="Calibri"/>
              </a:rPr>
              <a:t> travels a straight, unstructured path and arrives at full speed. </a:t>
            </a:r>
            <a:r>
              <a:rPr sz="1500" b="1" i="0">
                <a:solidFill>
                  <a:srgbClr val="1F77B4"/>
                </a:solidFill>
                <a:latin typeface="Calibri"/>
              </a:rPr>
              <a:t>Impedance flow (ours)</a:t>
            </a:r>
            <a:r>
              <a:rPr sz="1500" b="0" i="0">
                <a:solidFill>
                  <a:srgbClr val="1E2630"/>
                </a:solidFill>
                <a:latin typeface="Calibri"/>
              </a:rPr>
              <a:t> is a damped spring toward the predicted attractor — it decelerates to a </a:t>
            </a:r>
            <a:r>
              <a:rPr sz="1500" b="1" i="0">
                <a:solidFill>
                  <a:srgbClr val="1E2630"/>
                </a:solidFill>
                <a:latin typeface="Calibri"/>
              </a:rPr>
              <a:t>soft landing.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B6470"/>
                </a:solidFill>
                <a:latin typeface="Calibri"/>
              </a:rPr>
              <a:t>ζ = 1 (ours, critically damped) is smooth; ζ = 0.3 overshoots — which is exactly why we enforce </a:t>
            </a:r>
            <a:r>
              <a:rPr sz="1400" b="1" i="0">
                <a:solidFill>
                  <a:srgbClr val="1F77B4"/>
                </a:solidFill>
                <a:latin typeface="Calibri"/>
              </a:rPr>
              <a:t>ζ ≥ 1</a:t>
            </a:r>
            <a:r>
              <a:rPr sz="1400" b="0" i="0">
                <a:solidFill>
                  <a:srgbClr val="5B6470"/>
                </a:solidFill>
                <a:latin typeface="Calibri"/>
              </a:rPr>
              <a:t> via D = 2ζ√K.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DE-RISKING  ·  VALIDATE THE CORE IN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Toy gate — cleared before touching 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3" y="2035062"/>
            <a:ext cx="5764706" cy="21660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y_imp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89926"/>
            <a:ext cx="5654978" cy="205635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976972" y="1463039"/>
            <a:ext cx="4110228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oy_st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836" y="1517904"/>
            <a:ext cx="4000500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4983480"/>
            <a:ext cx="339638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17A46"/>
                </a:solidFill>
                <a:latin typeface="Calibri"/>
              </a:rPr>
              <a:t>✓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SPD heads verified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Cholesky M = LLᵀ + εI stays positive-definite.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3354" y="4983480"/>
            <a:ext cx="339638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17A46"/>
                </a:solidFill>
                <a:latin typeface="Calibri"/>
              </a:rPr>
              <a:t>✓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Damping-ratio control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ζ = 0.3 → 36% overshoot,  ζ = 1 → clean,  ζ = 2 → monotonic.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8340" y="4983480"/>
            <a:ext cx="339638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17A46"/>
                </a:solidFill>
                <a:latin typeface="Calibri"/>
              </a:rPr>
              <a:t>✓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Stability bound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at N Euler steps usable stiffness K ≲ (steps)² — the soft/compliant regime, which is what contact wants.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STAGE-1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A fair test: only the drift parameterization differs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00784"/>
            <a:ext cx="146304" cy="4572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1645920"/>
            <a:ext cx="587247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E2630"/>
                </a:solidFill>
                <a:latin typeface="Calibri"/>
              </a:rPr>
              <a:t>Same everything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Compact state-conditioned flow policy. Vanilla vs impedance arm trained with an identical objective; only the ODE drift differs.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60904"/>
            <a:ext cx="146304" cy="4572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7" y="2606040"/>
            <a:ext cx="587247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E2630"/>
                </a:solidFill>
                <a:latin typeface="Calibri"/>
              </a:rPr>
              <a:t>Param-matched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Both arms at ~400k parameters — the win is the structure, not capacity.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621024"/>
            <a:ext cx="146304" cy="4572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7" y="3566160"/>
            <a:ext cx="587247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E2630"/>
                </a:solidFill>
                <a:latin typeface="Calibri"/>
              </a:rPr>
              <a:t>Honest protocol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3 seeds × 30 closed-loop eval episodes; no tuning toward a target.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83343" y="1645920"/>
            <a:ext cx="4349983" cy="301752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7663" y="1874519"/>
            <a:ext cx="380134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WHAT WE MEASURE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77B4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Success 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      did the task complete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77B4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Action jerk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      2nd-difference of actions — smoothness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77B4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Peak contact force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      95th-pct of contact force — compliance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77B4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Sample efficiency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      metric vs # demonstrations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E2630"/>
                </a:solidFill>
                <a:latin typeface="Calibri"/>
              </a:rPr>
              <a:t>Benchmark: </a:t>
            </a:r>
            <a:r>
              <a:rPr sz="1400" b="0" i="0">
                <a:solidFill>
                  <a:srgbClr val="1E2630"/>
                </a:solidFill>
                <a:latin typeface="Calibri"/>
              </a:rPr>
              <a:t>MetaWorld full-state demos — </a:t>
            </a:r>
            <a:r>
              <a:rPr sz="1400" b="1" i="0">
                <a:solidFill>
                  <a:srgbClr val="1F77B4"/>
                </a:solidFill>
                <a:latin typeface="Calibri"/>
              </a:rPr>
              <a:t>peg-insert-side</a:t>
            </a:r>
            <a:r>
              <a:rPr sz="1400" b="0" i="0">
                <a:solidFill>
                  <a:srgbClr val="1E2630"/>
                </a:solidFill>
                <a:latin typeface="Calibri"/>
              </a:rPr>
              <a:t> (tight-tolerance contact, the hard task) and </a:t>
            </a:r>
            <a:r>
              <a:rPr sz="1400" b="1" i="0">
                <a:solidFill>
                  <a:srgbClr val="1E2630"/>
                </a:solidFill>
                <a:latin typeface="Calibri"/>
              </a:rPr>
              <a:t>door-open</a:t>
            </a:r>
            <a:r>
              <a:rPr sz="1400" b="0" i="0">
                <a:solidFill>
                  <a:srgbClr val="1E2630"/>
                </a:solidFill>
                <a:latin typeface="Calibri"/>
              </a:rPr>
              <a:t> (easy-from-state control). ManiSkill2/3 contact suite is the next, primary benchmark.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  ·  PRIMARY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peg-insert-side: a textbook sample-efficiency win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3" y="1473194"/>
            <a:ext cx="10984687" cy="3262387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1_peg_sample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28058"/>
            <a:ext cx="10874959" cy="315265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" y="4937760"/>
            <a:ext cx="3442106" cy="13258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047488"/>
            <a:ext cx="307634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+22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5650992"/>
            <a:ext cx="30763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630"/>
                </a:solidFill>
                <a:latin typeface="Calibri"/>
              </a:rPr>
              <a:t>success @ 10 demos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630"/>
                </a:solidFill>
                <a:latin typeface="Calibri"/>
              </a:rPr>
              <a:t>(30% → 52%)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4937760"/>
            <a:ext cx="3442106" cy="13258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7674" y="5047488"/>
            <a:ext cx="307634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−42%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7674" y="5650992"/>
            <a:ext cx="30763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630"/>
                </a:solidFill>
                <a:latin typeface="Calibri"/>
              </a:rPr>
              <a:t>lower action jerk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630"/>
                </a:solidFill>
                <a:latin typeface="Calibri"/>
              </a:rPr>
              <a:t>at low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1220" y="4937760"/>
            <a:ext cx="3442106" cy="13258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4100" y="5047488"/>
            <a:ext cx="307634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F77B4"/>
                </a:solidFill>
                <a:latin typeface="Calibri"/>
              </a:rPr>
              <a:t>−18%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4100" y="5650992"/>
            <a:ext cx="307634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630"/>
                </a:solidFill>
                <a:latin typeface="Calibri"/>
              </a:rPr>
              <a:t>peak contact force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2630"/>
                </a:solidFill>
                <a:latin typeface="Calibri"/>
              </a:rPr>
              <a:t>@ matched success (n=25)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EXPLAINABLE SIMULATION  · 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Impedance inserts where vanilla misses — 10 demos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6327" y="1472184"/>
            <a:ext cx="7559039" cy="3749039"/>
          </a:xfrm>
          <a:prstGeom prst="rect">
            <a:avLst/>
          </a:prstGeom>
          <a:solidFill>
            <a:srgbClr val="1E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eg_rollout_compar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62047" y="1517904"/>
            <a:ext cx="7467599" cy="3657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75807" y="3026664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5807" y="29260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047" y="5230368"/>
            <a:ext cx="7467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▶  click to play in Slide Show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440680"/>
            <a:ext cx="1087495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E2630"/>
                </a:solidFill>
                <a:latin typeface="Calibri"/>
              </a:rPr>
              <a:t>MuJoCo peg-insert, identical seeds, both arms trained on just 10 demos (3 episodes shown). </a:t>
            </a:r>
            <a:r>
              <a:rPr sz="1500" b="1" i="0">
                <a:solidFill>
                  <a:srgbClr val="1F77B4"/>
                </a:solidFill>
                <a:latin typeface="Calibri"/>
              </a:rPr>
              <a:t>Impedance succeeds where vanilla fails.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470"/>
                </a:solidFill>
                <a:latin typeface="Calibri"/>
              </a:rPr>
              <a:t>Note: the live force gauge reads higher for impedance here precisely because it makes the insertion contact that vanilla misses — the −18% compliance number is the matched-success comparison on the previous slide.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RESULT  ·  SECONDARY TASK (HONEST SCOPE)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door-open saturates — so the prior is redundant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3" y="1679046"/>
            <a:ext cx="6852202" cy="3060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door_seco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3910"/>
            <a:ext cx="6742474" cy="2951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5841" y="1737360"/>
            <a:ext cx="3697486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WHY THIS MATTERS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E2630"/>
                </a:solidFill>
                <a:latin typeface="Calibri"/>
              </a:rPr>
              <a:t>Door-open is easy from state</a:t>
            </a:r>
            <a:r>
              <a:rPr sz="1400" b="0" i="0">
                <a:solidFill>
                  <a:srgbClr val="5B6470"/>
                </a:solidFill>
                <a:latin typeface="Calibri"/>
              </a:rPr>
              <a:t> — vanilla already hits 82% at 10 demos. No sample-efficiency headroom → </a:t>
            </a:r>
            <a:r>
              <a:rPr sz="1400" b="1" i="0">
                <a:solidFill>
                  <a:srgbClr val="5B6470"/>
                </a:solidFill>
                <a:latin typeface="Calibri"/>
              </a:rPr>
              <a:t>the two arms tie on success.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5B6470"/>
                </a:solidFill>
                <a:latin typeface="Calibri"/>
              </a:rPr>
              <a:t>The impedance prior helps exactly where </a:t>
            </a:r>
            <a:r>
              <a:rPr sz="1400" b="1" i="0">
                <a:solidFill>
                  <a:srgbClr val="1F77B4"/>
                </a:solidFill>
                <a:latin typeface="Calibri"/>
              </a:rPr>
              <a:t>physics is the bottleneck</a:t>
            </a:r>
            <a:r>
              <a:rPr sz="1400" b="0" i="0">
                <a:solidFill>
                  <a:srgbClr val="5B6470"/>
                </a:solidFill>
                <a:latin typeface="Calibri"/>
              </a:rPr>
              <a:t> (tight-tolerance insertion) and is harmlessly redundant where it isn't.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1E2630"/>
                </a:solidFill>
                <a:latin typeface="Calibri"/>
              </a:rPr>
              <a:t>That is the honest, expected signature of a good structural prior — not a universal +X%.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Stage-1 results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645920"/>
          <a:ext cx="10908792" cy="3383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743200"/>
                <a:gridCol w="2788920"/>
                <a:gridCol w="2359152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anchor="ctr" marL="128016" marR="73152" marT="27432" marB="27432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Success  (van → imp)</a:t>
                      </a:r>
                    </a:p>
                  </a:txBody>
                  <a:tcPr anchor="ctr" marL="128016" marR="73152" marT="27432" marB="27432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Action jerk  (van → imp)</a:t>
                      </a:r>
                    </a:p>
                  </a:txBody>
                  <a:tcPr anchor="ctr" marL="128016" marR="73152" marT="27432" marB="27432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Peak force  (van → imp)</a:t>
                      </a:r>
                    </a:p>
                  </a:txBody>
                  <a:tcPr anchor="ctr" marL="128016" marR="73152" marT="27432" marB="27432">
                    <a:solidFill>
                      <a:srgbClr val="1F77B4"/>
                    </a:solidFill>
                  </a:tcPr>
                </a:tc>
              </a:tr>
              <a:tr h="6812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630"/>
                          </a:solidFill>
                          <a:latin typeface="Calibri"/>
                        </a:rPr>
                        <a:t>peg-insert · 10 demos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7A46"/>
                          </a:solidFill>
                          <a:latin typeface="Calibri"/>
                        </a:rPr>
                        <a:t>30% → 52%   (+22pp)</a:t>
                      </a:r>
                    </a:p>
                  </a:txBody>
                  <a:tcPr anchor="ctr" marL="128016" marR="73152" marT="27432" marB="27432">
                    <a:solidFill>
                      <a:srgbClr val="DDF0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0.99 → 0.57   (−42%)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509 → 674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</a:tr>
              <a:tr h="6812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630"/>
                          </a:solidFill>
                          <a:latin typeface="Calibri"/>
                        </a:rPr>
                        <a:t>peg-insert · 25 demos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74% → 73%   (tie)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0.41 → 0.24   (−41%)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536 → 441   (−18%)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</a:tr>
              <a:tr h="6812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630"/>
                          </a:solidFill>
                          <a:latin typeface="Calibri"/>
                        </a:rPr>
                        <a:t>peg-insert · 100 demos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88% → 88%   (saturated)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0.19 → 0.26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443 → 403</a:t>
                      </a:r>
                    </a:p>
                  </a:txBody>
                  <a:tcPr anchor="ctr" marL="128016" marR="73152" marT="27432" marB="27432">
                    <a:solidFill>
                      <a:srgbClr val="FFFFFF"/>
                    </a:solidFill>
                  </a:tcPr>
                </a:tc>
              </a:tr>
              <a:tr h="6812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630"/>
                          </a:solidFill>
                          <a:latin typeface="Calibri"/>
                        </a:rPr>
                        <a:t>door-open · 100 demos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93% → 93%   (tie)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0.18 → 0.14   (−22%)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630"/>
                          </a:solidFill>
                          <a:latin typeface="Calibri"/>
                        </a:rPr>
                        <a:t>2202 → 2199</a:t>
                      </a:r>
                    </a:p>
                  </a:txBody>
                  <a:tcPr anchor="ctr" marL="128016" marR="73152" marT="27432" marB="27432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212080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470"/>
                </a:solidFill>
                <a:latin typeface="Calibri"/>
              </a:rPr>
              <a:t>matched ~400k params · identical training objective · 3 seeds · 30 eval episodes. 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77B4"/>
                </a:solidFill>
                <a:latin typeface="Calibri"/>
              </a:rPr>
              <a:t>Read: </a:t>
            </a:r>
            <a:r>
              <a:rPr sz="1350" b="0" i="0">
                <a:solidFill>
                  <a:srgbClr val="1E2630"/>
                </a:solidFill>
                <a:latin typeface="Calibri"/>
              </a:rPr>
              <a:t>a big low-data gain that closes as data saturates (sample efficiency), smoother actions at low data, lower force at matched success — the structural prior helps where physics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75488"/>
            <a:ext cx="128016" cy="603504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18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77B4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76656"/>
            <a:ext cx="106189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630"/>
                </a:solidFill>
                <a:latin typeface="Calibri"/>
              </a:rPr>
              <a:t>From Stage-1 proof to a contact-rich VLA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874959" cy="16459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B6470"/>
                </a:solidFill>
                <a:latin typeface="Calibri"/>
              </a:rPr>
              <a:t>Impedance-Shaped Flow Matching for VLA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5B6470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17904"/>
            <a:ext cx="10874959" cy="73152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7282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282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17904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Stage-2 · conditioning ablation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517904"/>
            <a:ext cx="61200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5B6470"/>
                </a:solidFill>
                <a:latin typeface="Calibri"/>
              </a:rPr>
              <a:t>VLM-predicted M/K/D vs fixed; stiffness-output-only baseline — isolate what the structure buys.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304288"/>
            <a:ext cx="10874959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" y="25146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146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04288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Stage-3 · scale to SmolVLA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304288"/>
            <a:ext cx="61200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5B6470"/>
                </a:solidFill>
                <a:latin typeface="Calibri"/>
              </a:rPr>
              <a:t>Port the impedance drift into the SmolVLA action expert with the full 2nd-order conditional flow matching.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90672"/>
            <a:ext cx="10874959" cy="73152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" y="33009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330098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090672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Primary benchmark · ManiSkill2/3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0368" y="3090672"/>
            <a:ext cx="61200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5B6470"/>
                </a:solidFill>
                <a:latin typeface="Calibri"/>
              </a:rPr>
              <a:t>PegInsertionSide, PlugCharger, TurnFaucet, AssemblyNut — reviewer-accepted contact suite. MetaWorld as cross-sim. (Not LIBERO — kinematic.)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877056"/>
            <a:ext cx="10874959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9536" y="408736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08736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877056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Efficiency angle · ODE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877056"/>
            <a:ext cx="61200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5B6470"/>
                </a:solidFill>
                <a:latin typeface="Calibri"/>
              </a:rPr>
              <a:t>5 vs 10 integration steps — same accuracy, fewer steps = lower latency.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663440"/>
            <a:ext cx="10874959" cy="73152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12700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9536" y="4873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487375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66344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E2630"/>
                </a:solidFill>
                <a:latin typeface="Calibri"/>
              </a:rPr>
              <a:t>Credibility lever · real 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4663440"/>
            <a:ext cx="61200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80" b="0" i="0">
                <a:solidFill>
                  <a:srgbClr val="5B6470"/>
                </a:solidFill>
                <a:latin typeface="Calibri"/>
              </a:rPr>
              <a:t>Peg / USB insertion with a wrist F/T sensor.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486400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548640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77B4"/>
                </a:solidFill>
                <a:latin typeface="Calibri"/>
              </a:rPr>
              <a:t>Kill-gate:  </a:t>
            </a:r>
            <a:r>
              <a:rPr sz="1350" b="0" i="0">
                <a:solidFill>
                  <a:srgbClr val="1E2630"/>
                </a:solidFill>
                <a:latin typeface="Calibri"/>
              </a:rPr>
              <a:t>GO only if the ManiSkill contact subset shows ≥ +5pp over vanilla SmolVLA at matched params. Fail fast; report honestly.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FB2D9"/>
                </a:solidFill>
                <a:latin typeface="Calibri"/>
              </a:rPr>
              <a:t>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1554480"/>
            <a:ext cx="100519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genuinely new object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4CFDA"/>
                </a:solidFill>
                <a:latin typeface="Calibri"/>
              </a:rPr>
              <a:t>the flow-ODE drift made a closed-loop impedance law — not an external controller, not a post-hoc explanation. Prior-art-clear.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17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17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971800"/>
            <a:ext cx="100519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It works where it should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4CFDA"/>
                </a:solidFill>
                <a:latin typeface="Calibri"/>
              </a:rPr>
              <a:t>+22pp sample efficiency, −42% jerk, and −18% contact force at matched success on tight-tolerance insertion; harmlessly redundant on easy tasks.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4348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4348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4389120"/>
            <a:ext cx="100519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Earned by discipline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4CFDA"/>
                </a:solidFill>
                <a:latin typeface="Calibri"/>
              </a:rPr>
              <a:t>toy gate → param-matched Stage-1 → SmolVLA next. The lesson from the abandoned project, applied: validate, gate, report honestly.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080760"/>
            <a:ext cx="10874959" cy="18288"/>
          </a:xfrm>
          <a:prstGeom prst="rect">
            <a:avLst/>
          </a:prstGeom>
          <a:solidFill>
            <a:srgbClr val="2C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2179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Impedance-Shaped Flow Matching for VLA Policies</a:t>
            </a:r>
            <a:r>
              <a:rPr sz="1300" b="0" i="0">
                <a:solidFill>
                  <a:srgbClr val="9FADBC"/>
                </a:solidFill>
                <a:latin typeface="Calibri"/>
              </a:rPr>
              <a:t>    ·    IS Lab, CWNU    ·    2026-05-30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