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11.png"/><Relationship Id="rId5" Type="http://schemas.microsoft.com/office/2007/relationships/media" Target="../media/media5.mp4"/><Relationship Id="rId6" Type="http://schemas.openxmlformats.org/officeDocument/2006/relationships/video" Target="../media/media5.mp4"/><Relationship Id="rId7" Type="http://schemas.openxmlformats.org/officeDocument/2006/relationships/image" Target="../media/image12.png"/><Relationship Id="rId8" Type="http://schemas.microsoft.com/office/2007/relationships/media" Target="../media/media6.mp4"/><Relationship Id="rId9" Type="http://schemas.openxmlformats.org/officeDocument/2006/relationships/video" Target="../media/media6.mp4"/><Relationship Id="rId10" Type="http://schemas.openxmlformats.org/officeDocument/2006/relationships/image" Target="../media/image13.png"/><Relationship Id="rId11" Type="http://schemas.microsoft.com/office/2007/relationships/media" Target="../media/media7.mp4"/><Relationship Id="rId12" Type="http://schemas.openxmlformats.org/officeDocument/2006/relationships/video" Target="../media/media7.mp4"/><Relationship Id="rId13" Type="http://schemas.openxmlformats.org/officeDocument/2006/relationships/image" Target="../media/image14.png"/><Relationship Id="rId14" Type="http://schemas.microsoft.com/office/2007/relationships/media" Target="../media/media8.mp4"/><Relationship Id="rId15" Type="http://schemas.openxmlformats.org/officeDocument/2006/relationships/video" Target="../media/media8.mp4"/><Relationship Id="rId16" Type="http://schemas.openxmlformats.org/officeDocument/2006/relationships/image" Target="../media/image15.png"/><Relationship Id="rId17" Type="http://schemas.microsoft.com/office/2007/relationships/media" Target="../media/media9.mp4"/><Relationship Id="rId18" Type="http://schemas.openxmlformats.org/officeDocument/2006/relationships/video" Target="../media/media9.mp4"/><Relationship Id="rId19" Type="http://schemas.openxmlformats.org/officeDocument/2006/relationships/image" Target="../media/image16.png"/><Relationship Id="rId20" Type="http://schemas.microsoft.com/office/2007/relationships/media" Target="../media/media10.mp4"/><Relationship Id="rId21" Type="http://schemas.openxmlformats.org/officeDocument/2006/relationships/video" Target="../media/media10.mp4"/><Relationship Id="rId22" Type="http://schemas.openxmlformats.org/officeDocument/2006/relationships/image" Target="../media/image17.png"/><Relationship Id="rId23" Type="http://schemas.microsoft.com/office/2007/relationships/media" Target="../media/media11.mp4"/><Relationship Id="rId24" Type="http://schemas.openxmlformats.org/officeDocument/2006/relationships/video" Target="../media/media11.mp4"/><Relationship Id="rId25" Type="http://schemas.openxmlformats.org/officeDocument/2006/relationships/image" Target="../media/image18.png"/><Relationship Id="rId26" Type="http://schemas.microsoft.com/office/2007/relationships/media" Target="../media/media12.mp4"/><Relationship Id="rId27" Type="http://schemas.openxmlformats.org/officeDocument/2006/relationships/video" Target="../media/media12.mp4"/><Relationship Id="rId28" Type="http://schemas.openxmlformats.org/officeDocument/2006/relationships/image" Target="../media/image19.png"/><Relationship Id="rId29" Type="http://schemas.microsoft.com/office/2007/relationships/media" Target="../media/media13.mp4"/><Relationship Id="rId30" Type="http://schemas.openxmlformats.org/officeDocument/2006/relationships/video" Target="../media/media13.mp4"/><Relationship Id="rId31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22.png"/><Relationship Id="rId5" Type="http://schemas.microsoft.com/office/2007/relationships/media" Target="../media/media15.mp4"/><Relationship Id="rId6" Type="http://schemas.openxmlformats.org/officeDocument/2006/relationships/video" Target="../media/media15.mp4"/><Relationship Id="rId7" Type="http://schemas.openxmlformats.org/officeDocument/2006/relationships/image" Target="../media/image2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5.mp4"/><Relationship Id="rId3" Type="http://schemas.openxmlformats.org/officeDocument/2006/relationships/video" Target="../media/media15.mp4"/><Relationship Id="rId4" Type="http://schemas.openxmlformats.org/officeDocument/2006/relationships/image" Target="../media/image23.png"/><Relationship Id="rId5" Type="http://schemas.microsoft.com/office/2007/relationships/media" Target="../media/media16.mp4"/><Relationship Id="rId6" Type="http://schemas.openxmlformats.org/officeDocument/2006/relationships/video" Target="../media/media16.mp4"/><Relationship Id="rId7" Type="http://schemas.openxmlformats.org/officeDocument/2006/relationships/image" Target="../media/image24.png"/><Relationship Id="rId8" Type="http://schemas.microsoft.com/office/2007/relationships/media" Target="../media/media17.mp4"/><Relationship Id="rId9" Type="http://schemas.openxmlformats.org/officeDocument/2006/relationships/video" Target="../media/media17.mp4"/><Relationship Id="rId10" Type="http://schemas.openxmlformats.org/officeDocument/2006/relationships/image" Target="../media/image25.png"/><Relationship Id="rId11" Type="http://schemas.microsoft.com/office/2007/relationships/media" Target="../media/media18.mp4"/><Relationship Id="rId12" Type="http://schemas.openxmlformats.org/officeDocument/2006/relationships/video" Target="../media/media18.mp4"/><Relationship Id="rId13" Type="http://schemas.openxmlformats.org/officeDocument/2006/relationships/image" Target="../media/image26.png"/><Relationship Id="rId14" Type="http://schemas.microsoft.com/office/2007/relationships/media" Target="../media/media19.mp4"/><Relationship Id="rId15" Type="http://schemas.openxmlformats.org/officeDocument/2006/relationships/video" Target="../media/media19.mp4"/><Relationship Id="rId16" Type="http://schemas.openxmlformats.org/officeDocument/2006/relationships/image" Target="../media/image27.png"/><Relationship Id="rId17" Type="http://schemas.microsoft.com/office/2007/relationships/media" Target="../media/media14.mp4"/><Relationship Id="rId18" Type="http://schemas.openxmlformats.org/officeDocument/2006/relationships/video" Target="../media/media14.mp4"/><Relationship Id="rId19" Type="http://schemas.openxmlformats.org/officeDocument/2006/relationships/image" Target="../media/image22.png"/><Relationship Id="rId20" Type="http://schemas.microsoft.com/office/2007/relationships/media" Target="../media/media20.mp4"/><Relationship Id="rId21" Type="http://schemas.openxmlformats.org/officeDocument/2006/relationships/video" Target="../media/media20.mp4"/><Relationship Id="rId22" Type="http://schemas.openxmlformats.org/officeDocument/2006/relationships/image" Target="../media/image28.png"/><Relationship Id="rId23" Type="http://schemas.microsoft.com/office/2007/relationships/media" Target="../media/media21.mp4"/><Relationship Id="rId24" Type="http://schemas.openxmlformats.org/officeDocument/2006/relationships/video" Target="../media/media21.mp4"/><Relationship Id="rId25" Type="http://schemas.openxmlformats.org/officeDocument/2006/relationships/image" Target="../media/image29.png"/><Relationship Id="rId26" Type="http://schemas.microsoft.com/office/2007/relationships/media" Target="../media/media22.mp4"/><Relationship Id="rId27" Type="http://schemas.openxmlformats.org/officeDocument/2006/relationships/video" Target="../media/media22.mp4"/><Relationship Id="rId28" Type="http://schemas.openxmlformats.org/officeDocument/2006/relationships/image" Target="../media/image30.png"/><Relationship Id="rId29" Type="http://schemas.microsoft.com/office/2007/relationships/media" Target="../media/media23.mp4"/><Relationship Id="rId30" Type="http://schemas.openxmlformats.org/officeDocument/2006/relationships/video" Target="../media/media23.mp4"/><Relationship Id="rId31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0515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FB2D9"/>
                </a:solidFill>
                <a:latin typeface="Calibri"/>
              </a:rPr>
              <a:t>ROBOT LEARNING  ·  FLOW-MATCHING POLICIES  ·  CONTACT-RICH MANIPULATION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481328"/>
            <a:ext cx="10874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Impedance-Shaped Flow Matching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for VLA Policies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0" i="0">
                <a:solidFill>
                  <a:srgbClr val="C4CFDA"/>
                </a:solidFill>
                <a:latin typeface="Calibri"/>
              </a:rPr>
              <a:t>Making the action expert's flow-ODE drift a closed-loop impedance law — compliance becomes structural, not a downstream add-on.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3703320"/>
            <a:ext cx="10874959" cy="1234440"/>
          </a:xfrm>
          <a:prstGeom prst="roundRect">
            <a:avLst>
              <a:gd name="adj" fmla="val 6000"/>
            </a:avLst>
          </a:prstGeom>
          <a:solidFill>
            <a:srgbClr val="1B2633"/>
          </a:solidFill>
          <a:ln w="12700">
            <a:solidFill>
              <a:srgbClr val="2C3B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q_main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843800"/>
            <a:ext cx="10326319" cy="9626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" y="598932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IS Lab · Changwon National University</a:t>
            </a:r>
            <a:r>
              <a:rPr sz="1400" b="0" i="0">
                <a:solidFill>
                  <a:srgbClr val="9FADBC"/>
                </a:solidFill>
                <a:latin typeface="Calibri"/>
              </a:rPr>
              <a:t>        Group presentation — Saturday, 2026-05-30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HOW WE GOT HERE  ·  1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We started somewhere else: Adjoint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1087495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Prior project: 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“Why attention explanations for flow-matching robot policies are provably wrong.”  Use the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adjoint sensitivity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 of the action-generating ODE as the principled attribution. Four bids for novelty: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2331720"/>
            <a:ext cx="2512999" cy="24688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" y="2331720"/>
            <a:ext cx="2512999" cy="566928"/>
          </a:xfrm>
          <a:prstGeom prst="roundRect">
            <a:avLst>
              <a:gd name="adj" fmla="val 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2651760"/>
            <a:ext cx="2512999" cy="24688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77440"/>
            <a:ext cx="25129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HYPOTHESIS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63240"/>
            <a:ext cx="21838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Attention is “provably wrong”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Attention maps disagree with true ODE sensitivity.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5687" y="2331720"/>
            <a:ext cx="2512999" cy="24688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5687" y="2331720"/>
            <a:ext cx="2512999" cy="566928"/>
          </a:xfrm>
          <a:prstGeom prst="roundRect">
            <a:avLst>
              <a:gd name="adj" fmla="val 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45687" y="2651760"/>
            <a:ext cx="2512999" cy="24688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5687" y="2377440"/>
            <a:ext cx="25129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HYPOTHESIS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0279" y="3063240"/>
            <a:ext cx="21838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Second-order / interaction adjoint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Go beyond first-order gradients — curvature &amp; token interactions.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2331720"/>
            <a:ext cx="2512999" cy="24688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3007" y="2331720"/>
            <a:ext cx="2512999" cy="566928"/>
          </a:xfrm>
          <a:prstGeom prst="roundRect">
            <a:avLst>
              <a:gd name="adj" fmla="val 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3007" y="2651760"/>
            <a:ext cx="2512999" cy="24688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3007" y="2377440"/>
            <a:ext cx="25129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HYPOTHESIS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7599" y="3063240"/>
            <a:ext cx="21838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Adjoint-KL fine-tuning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Use the adjoint signal to fine-tune the policy (performance lever).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20327" y="2331720"/>
            <a:ext cx="2512999" cy="246888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020327" y="2331720"/>
            <a:ext cx="2512999" cy="566928"/>
          </a:xfrm>
          <a:prstGeom prst="roundRect">
            <a:avLst>
              <a:gd name="adj" fmla="val 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020327" y="2651760"/>
            <a:ext cx="2512999" cy="246888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20327" y="2377440"/>
            <a:ext cx="251299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HYPOTHESIS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4919" y="3063240"/>
            <a:ext cx="2183815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Test-time goal-steering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Steer generation along adjoint directions at inference.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5029200"/>
            <a:ext cx="1087495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The goal we set: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genuine novelty 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+ an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improving number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. Every one of these four was tested against that bar.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HOW WE GOT HERE  ·  2 /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… and why we abandoned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517904"/>
            <a:ext cx="91440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17904"/>
            <a:ext cx="5029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27048" y="1517904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Attention “provably wrong”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1517904"/>
            <a:ext cx="666871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Confound.  </a:t>
            </a:r>
            <a:r>
              <a:rPr sz="1300" b="0" i="0">
                <a:solidFill>
                  <a:srgbClr val="1E2630"/>
                </a:solidFill>
                <a:latin typeface="Calibri"/>
              </a:rPr>
              <a:t>Attention vs adjoint actually agree on rank (Spearman +0.52, top-1 100%) once token granularity is matched.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04288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304288"/>
            <a:ext cx="91440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304288"/>
            <a:ext cx="5029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304288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2nd-order interaction adjoint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304288"/>
            <a:ext cx="666871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Scale artifact.  </a:t>
            </a:r>
            <a:r>
              <a:rPr sz="1300" b="0" i="0">
                <a:solidFill>
                  <a:srgbClr val="1E2630"/>
                </a:solidFill>
                <a:latin typeface="Calibri"/>
              </a:rPr>
              <a:t>The 90–122× state-token curvature was an embedding-norm effect (state ≈7 vs image ≈3700, ~518×).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90672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090672"/>
            <a:ext cx="91440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90672"/>
            <a:ext cx="5029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7048" y="3090672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Adjoint-KL fine-tuning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3090672"/>
            <a:ext cx="666871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Null.  </a:t>
            </a:r>
            <a:r>
              <a:rPr sz="1300" b="0" i="0">
                <a:solidFill>
                  <a:srgbClr val="1E2630"/>
                </a:solidFill>
                <a:latin typeface="Calibri"/>
              </a:rPr>
              <a:t>+1.7 vs a proper control — inside the noise at n = 12.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77056"/>
            <a:ext cx="10874959" cy="676656"/>
          </a:xfrm>
          <a:prstGeom prst="roundRect">
            <a:avLst>
              <a:gd name="adj" fmla="val 6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3877056"/>
            <a:ext cx="91440" cy="67665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877056"/>
            <a:ext cx="5029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3877056"/>
            <a:ext cx="320040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Test-time goal-steering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877056"/>
            <a:ext cx="6668719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Net-negative.  </a:t>
            </a:r>
            <a:r>
              <a:rPr sz="1300" b="0" i="0">
                <a:solidFill>
                  <a:srgbClr val="1E2630"/>
                </a:solidFill>
                <a:latin typeface="Calibri"/>
              </a:rPr>
              <a:t>Helps free-space reach (37→75%) but collapses every contact task (push, window → 0%).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81728"/>
            <a:ext cx="10874959" cy="713232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4681728"/>
            <a:ext cx="91440" cy="713232"/>
          </a:xfrm>
          <a:prstGeom prst="rect">
            <a:avLst/>
          </a:prstGeom>
          <a:solidFill>
            <a:srgbClr val="217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81728"/>
            <a:ext cx="5029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217A46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7048" y="4681728"/>
            <a:ext cx="986911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217A46"/>
                </a:solidFill>
                <a:latin typeface="Calibri"/>
              </a:rPr>
              <a:t>One result survived (analysis-only): 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an interventional ground truth showed attention's modality ranking is the </a:t>
            </a:r>
            <a:r>
              <a:rPr sz="1250" b="1" i="0">
                <a:solidFill>
                  <a:srgbClr val="1E2630"/>
                </a:solidFill>
                <a:latin typeface="Calibri"/>
              </a:rPr>
              <a:t>reverse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 of causal truth, and the adjoint's matches. Not the method/perf paper we wanted → </a:t>
            </a:r>
            <a:r>
              <a:rPr sz="1250" b="1" i="0">
                <a:solidFill>
                  <a:srgbClr val="C0392B"/>
                </a:solidFill>
                <a:latin typeface="Calibri"/>
              </a:rPr>
              <a:t>abandoned.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5504688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77B4"/>
                </a:solidFill>
                <a:latin typeface="Calibri"/>
              </a:rPr>
              <a:t>Lesson kept: </a:t>
            </a:r>
            <a:r>
              <a:rPr sz="1350" b="0" i="0">
                <a:solidFill>
                  <a:srgbClr val="1E2630"/>
                </a:solidFill>
                <a:latin typeface="Calibri"/>
              </a:rPr>
              <a:t>model-internal attributions evaporate under scale/granularity normalization. Validate the core object in isolation, clear a kill-gate before scaling, report numbers honestly.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PIVOT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From explaining compliance to building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10874959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0" i="0">
                <a:solidFill>
                  <a:srgbClr val="1E2630"/>
                </a:solidFill>
                <a:latin typeface="Calibri"/>
              </a:rPr>
              <a:t>If steering a trained flow policy </a:t>
            </a:r>
            <a:r>
              <a:rPr sz="1800" b="1" i="0">
                <a:solidFill>
                  <a:srgbClr val="C0392B"/>
                </a:solidFill>
                <a:latin typeface="Calibri"/>
              </a:rPr>
              <a:t>collapses</a:t>
            </a:r>
            <a:r>
              <a:rPr sz="1800" b="0" i="0">
                <a:solidFill>
                  <a:srgbClr val="1E2630"/>
                </a:solidFill>
                <a:latin typeface="Calibri"/>
              </a:rPr>
              <a:t> contact tasks, the problem isn't the explanation — the policy has </a:t>
            </a:r>
            <a:r>
              <a:rPr sz="1800" b="1" i="0">
                <a:solidFill>
                  <a:srgbClr val="1F77B4"/>
                </a:solidFill>
                <a:latin typeface="Calibri"/>
              </a:rPr>
              <a:t>no notion of physical compliance</a:t>
            </a:r>
            <a:r>
              <a:rPr sz="1800" b="0" i="0">
                <a:solidFill>
                  <a:srgbClr val="1E2630"/>
                </a:solidFill>
                <a:latin typeface="Calibri"/>
              </a:rPr>
              <a:t> in how it generates motion.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E2630"/>
                </a:solidFill>
                <a:latin typeface="Calibri"/>
              </a:rPr>
              <a:t>So stop </a:t>
            </a:r>
            <a:r>
              <a:rPr sz="1800" b="0" i="1">
                <a:solidFill>
                  <a:srgbClr val="1E2630"/>
                </a:solidFill>
                <a:latin typeface="Calibri"/>
              </a:rPr>
              <a:t>attributing</a:t>
            </a:r>
            <a:r>
              <a:rPr sz="1800" b="0" i="0">
                <a:solidFill>
                  <a:srgbClr val="1E2630"/>
                </a:solidFill>
                <a:latin typeface="Calibri"/>
              </a:rPr>
              <a:t> behaviour after the fact. Build the right inductive bias </a:t>
            </a:r>
            <a:r>
              <a:rPr sz="1800" b="1" i="0">
                <a:solidFill>
                  <a:srgbClr val="1E2630"/>
                </a:solidFill>
                <a:latin typeface="Calibri"/>
              </a:rPr>
              <a:t>into the generator itself.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57600"/>
            <a:ext cx="5254599" cy="2103120"/>
          </a:xfrm>
          <a:prstGeom prst="roundRect">
            <a:avLst>
              <a:gd name="adj" fmla="val 4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3886200"/>
            <a:ext cx="4705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Calibri"/>
              </a:rPr>
              <a:t>BEFORE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2630"/>
                </a:solidFill>
                <a:latin typeface="Calibri"/>
              </a:rPr>
              <a:t>Unstructured neural drift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Compliance bolted on downstream (external controller / F-T sensor), or merely explained post-hoc.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3657600"/>
            <a:ext cx="5254599" cy="2103120"/>
          </a:xfrm>
          <a:prstGeom prst="roundRect">
            <a:avLst>
              <a:gd name="adj" fmla="val 4000"/>
            </a:avLst>
          </a:prstGeom>
          <a:solidFill>
            <a:srgbClr val="EAF1F8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3047" y="3886200"/>
            <a:ext cx="4705959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F77B4"/>
                </a:solidFill>
                <a:latin typeface="Calibri"/>
              </a:rPr>
              <a:t>OURS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E2630"/>
                </a:solidFill>
                <a:latin typeface="Calibri"/>
              </a:rPr>
              <a:t>Drift IS an impedance law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630"/>
                </a:solidFill>
                <a:latin typeface="Calibri"/>
              </a:rPr>
              <a:t>A closed-loop mass–spring–damper attractor, end-to-end differentiable, baked into the flow ODE. No downstream controller.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67247" y="4434840"/>
            <a:ext cx="457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F77B4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THE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The one new object: an impedance-shaped flow drift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00200"/>
            <a:ext cx="10874959" cy="137160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q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7" y="1934926"/>
            <a:ext cx="10234879" cy="7021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310896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1">
                <a:solidFill>
                  <a:srgbClr val="5B6470"/>
                </a:solidFill>
                <a:latin typeface="Calibri"/>
              </a:rPr>
              <a:t>The flow-matching action expert's ODE velocity field is itself a 2nd-order closed-loop impedance law.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721608"/>
            <a:ext cx="146304" cy="42062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7" y="3657600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77B4"/>
                </a:solidFill>
                <a:latin typeface="Calibri"/>
              </a:rPr>
              <a:t>M, K,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3657600"/>
            <a:ext cx="794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630"/>
                </a:solidFill>
                <a:latin typeface="Calibri"/>
              </a:rPr>
              <a:t>task-conditioned SPD matrices (mass / stiffness / damping), Cholesky-parameterized, predicted from features.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379976"/>
            <a:ext cx="146304" cy="42062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7" y="4315968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77B4"/>
                </a:solidFill>
                <a:latin typeface="Calibri"/>
              </a:rPr>
              <a:t>ȧ — velocity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4315968"/>
            <a:ext cx="794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630"/>
                </a:solidFill>
                <a:latin typeface="Calibri"/>
              </a:rPr>
              <a:t>the flow is a 2nd-order augmented ODE, integrated semi-implicitly (symplectic Euler). The naive finite-difference form is unstable — the toy gate proved it first.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038344"/>
            <a:ext cx="146304" cy="42062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7" y="4974336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77B4"/>
                </a:solidFill>
                <a:latin typeface="Calibri"/>
              </a:rPr>
              <a:t>a_goal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84448" y="4974336"/>
            <a:ext cx="794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630"/>
                </a:solidFill>
                <a:latin typeface="Calibri"/>
              </a:rPr>
              <a:t>an attractor (chunk target or a predicted attractor token) the drift is pulled toward.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696712"/>
            <a:ext cx="146304" cy="42062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7" y="5632703"/>
            <a:ext cx="24688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F77B4"/>
                </a:solidFill>
                <a:latin typeface="Calibri"/>
              </a:rPr>
              <a:t>End-to-end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4448" y="5632703"/>
            <a:ext cx="794887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E2630"/>
                </a:solidFill>
                <a:latin typeface="Calibri"/>
              </a:rPr>
              <a:t>fully differentiable. No downstream controller. No force/torque sensor at inference.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POSITIONING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Why it's novel — and what it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0874959" cy="84124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54480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CompliantVLA-adaptor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554480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Predicts K, D from a VLM but feeds an EXTERNAL impedance controller wrapped around a frozen VLA.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505456"/>
            <a:ext cx="10874959" cy="84124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505456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Flow with the Force 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505456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Standard unstructured flow drift + a DOWNSTREAM passive impedance controller for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456432"/>
            <a:ext cx="10874959" cy="84124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56432"/>
            <a:ext cx="338328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E2630"/>
                </a:solidFill>
                <a:latin typeface="Calibri"/>
              </a:rPr>
              <a:t>ACP / Diffusion-Impedance / DMP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3456432"/>
            <a:ext cx="676015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Stiffness lives on the OUTPUT head or a DMP decoder — not in the generative drift.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425696"/>
            <a:ext cx="10874959" cy="1051560"/>
          </a:xfrm>
          <a:prstGeom prst="roundRect">
            <a:avLst>
              <a:gd name="adj" fmla="val 5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25696"/>
            <a:ext cx="10143439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Ours:  </a:t>
            </a:r>
            <a:r>
              <a:rPr sz="1800" b="1" i="0">
                <a:solidFill>
                  <a:srgbClr val="FFFFFF"/>
                </a:solidFill>
                <a:latin typeface="Calibri"/>
              </a:rPr>
              <a:t>the velocity field IS the impedance law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2EEF8"/>
                </a:solidFill>
                <a:latin typeface="Calibri"/>
              </a:rPr>
              <a:t>A closed-loop K/D/M attractor conditioned on features, embedded inside the action expert — end-to-end, no external controller, no F/T sensor. (The prior-art check confirms this intersection is unclaimed as of May 2026.)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EXPLAINABLE SIMULATION  · 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How one action is generated through the flow 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2325376" y="1472184"/>
            <a:ext cx="7540942" cy="370332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mechanism_ani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71096" y="1517904"/>
            <a:ext cx="7449502" cy="3611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75807" y="3003803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807" y="290322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1096" y="5184648"/>
            <a:ext cx="744950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▶  click to play in Slide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303520"/>
            <a:ext cx="1087495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6470"/>
                </a:solidFill>
                <a:latin typeface="Calibri"/>
              </a:rPr>
              <a:t>Vanilla flow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 travels a straight, unstructured path and arrives at full speed.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Impedance flow (ours)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 is a damped spring toward the predicted attractor — it decelerates to a </a:t>
            </a:r>
            <a:r>
              <a:rPr sz="1500" b="1" i="0">
                <a:solidFill>
                  <a:srgbClr val="1E2630"/>
                </a:solidFill>
                <a:latin typeface="Calibri"/>
              </a:rPr>
              <a:t>soft landing.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ζ = 1 (ours, critically damped) is smooth; ζ = 0.3 overshoots — which is exactly why we enforce </a:t>
            </a:r>
            <a:r>
              <a:rPr sz="1400" b="1" i="0">
                <a:solidFill>
                  <a:srgbClr val="1F77B4"/>
                </a:solidFill>
                <a:latin typeface="Calibri"/>
              </a:rPr>
              <a:t>ζ ≥ 1</a:t>
            </a:r>
            <a:r>
              <a:rPr sz="1400" b="0" i="0">
                <a:solidFill>
                  <a:srgbClr val="5B6470"/>
                </a:solidFill>
                <a:latin typeface="Calibri"/>
              </a:rPr>
              <a:t> via D = 2ζ√K.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METHODOLOGY  ·  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The full methodology, animated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2798927" y="1472184"/>
            <a:ext cx="6593839" cy="3749039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methodology_anim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44647" y="1517904"/>
            <a:ext cx="6502400" cy="365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75807" y="3026664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807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44647" y="5230368"/>
            <a:ext cx="6502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▶  click to play in Slide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0680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E2630"/>
                </a:solidFill>
                <a:latin typeface="Calibri"/>
              </a:rPr>
              <a:t>Observation → features → predicted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M, K, D &amp; attractor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 → the action chunk is generated by integrating the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impedance-shaped flow ODE</a:t>
            </a:r>
            <a:r>
              <a:rPr sz="1500" b="0" i="0">
                <a:solidFill>
                  <a:srgbClr val="1E2630"/>
                </a:solidFill>
                <a:latin typeface="Calibri"/>
              </a:rPr>
              <a:t> (symplectic Euler) → executed closed-loop. No external controller, no F/T sensor.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DE-RISKING  ·  VALIDATE THE CORE IN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Toy gate — cleared before touching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2035062"/>
            <a:ext cx="5764706" cy="2166083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oy_imped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089926"/>
            <a:ext cx="5654978" cy="2056355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976972" y="1463039"/>
            <a:ext cx="4110228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oy_sta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836" y="1517904"/>
            <a:ext cx="40005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8368" y="4983480"/>
            <a:ext cx="3396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17A46"/>
                </a:solidFill>
                <a:latin typeface="Calibri"/>
              </a:rPr>
              <a:t>✓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SPD heads verified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Cholesky M = LLᵀ + εI stays positive-definite.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3354" y="4983480"/>
            <a:ext cx="3396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17A46"/>
                </a:solidFill>
                <a:latin typeface="Calibri"/>
              </a:rPr>
              <a:t>✓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Damping-ratio control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ζ = 0.3 → 36% overshoot,  ζ = 1 → clean,  ζ = 2 → monotonic.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8340" y="4983480"/>
            <a:ext cx="3396386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17A46"/>
                </a:solidFill>
                <a:latin typeface="Calibri"/>
              </a:rPr>
              <a:t>✓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Stability bound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B6470"/>
                </a:solidFill>
                <a:latin typeface="Calibri"/>
              </a:rPr>
              <a:t>at N Euler steps usable stiffness K ≲ (steps)² — the soft/compliant regime, which is what contact wants.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STAGE-1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A fair test: only the drift parameterization differs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700784"/>
            <a:ext cx="146304" cy="457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1645920"/>
            <a:ext cx="587247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630"/>
                </a:solidFill>
                <a:latin typeface="Calibri"/>
              </a:rPr>
              <a:t>Same everything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Compact state-conditioned flow policy. Vanilla vs impedance arm trained with an identical objective; only the ODE drift differs.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660904"/>
            <a:ext cx="146304" cy="457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7" y="2606040"/>
            <a:ext cx="587247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630"/>
                </a:solidFill>
                <a:latin typeface="Calibri"/>
              </a:rPr>
              <a:t>Param-matched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Both arms at ~400k parameters — the win is the structure, not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621024"/>
            <a:ext cx="146304" cy="4572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7" y="3566160"/>
            <a:ext cx="5872477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 i="0">
                <a:solidFill>
                  <a:srgbClr val="1E2630"/>
                </a:solidFill>
                <a:latin typeface="Calibri"/>
              </a:rPr>
              <a:t>Honest protocol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3 seeds × 30 closed-loop eval episodes; no tuning toward a target.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83343" y="1645920"/>
            <a:ext cx="4349983" cy="30175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7663" y="1874519"/>
            <a:ext cx="3801343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WHAT WE MEASURE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Success rate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      did the task complete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Action jerk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      2nd-difference of actions — smoothness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Peak contact force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      95th-pct of contact force — compliance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Sample efficiency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      metric vs # demonstrations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98348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630"/>
                </a:solidFill>
                <a:latin typeface="Calibri"/>
              </a:rPr>
              <a:t>Benchmark: </a:t>
            </a:r>
            <a:r>
              <a:rPr sz="1400" b="0" i="0">
                <a:solidFill>
                  <a:srgbClr val="1E2630"/>
                </a:solidFill>
                <a:latin typeface="Calibri"/>
              </a:rPr>
              <a:t>MetaWorld full-state demos — </a:t>
            </a:r>
            <a:r>
              <a:rPr sz="1400" b="1" i="0">
                <a:solidFill>
                  <a:srgbClr val="1F77B4"/>
                </a:solidFill>
                <a:latin typeface="Calibri"/>
              </a:rPr>
              <a:t>peg-insert-side</a:t>
            </a:r>
            <a:r>
              <a:rPr sz="1400" b="0" i="0">
                <a:solidFill>
                  <a:srgbClr val="1E2630"/>
                </a:solidFill>
                <a:latin typeface="Calibri"/>
              </a:rPr>
              <a:t> (tight-tolerance contact, the hard task) and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door-open</a:t>
            </a:r>
            <a:r>
              <a:rPr sz="1400" b="0" i="0">
                <a:solidFill>
                  <a:srgbClr val="1E2630"/>
                </a:solidFill>
                <a:latin typeface="Calibri"/>
              </a:rPr>
              <a:t> (easy-from-state control). ManiSkill2/3 contact suite is the next, primary benchmark.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REPRODUCIBILITY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How the demo was trained — hyperparameters &amp; parameter budget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591056"/>
          <a:ext cx="612648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06040"/>
                <a:gridCol w="173736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Knob</a:t>
                      </a:r>
                    </a:p>
                  </a:txBody>
                  <a:tcPr anchor="ctr" marL="109728" marR="54864" marT="18288" marB="18288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MetaWorld MT10</a:t>
                      </a:r>
                    </a:p>
                  </a:txBody>
                  <a:tcPr anchor="ctr" marL="109728" marR="54864" marT="18288" marB="18288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LIBERO-Object</a:t>
                      </a:r>
                    </a:p>
                  </a:txBody>
                  <a:tcPr anchor="ctr" marL="109728" marR="54864" marT="18288" marB="18288">
                    <a:solidFill>
                      <a:srgbClr val="1F77B4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Action chunk H  /  ODE steps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16  /  10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16  /  10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Impedance hidden width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256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Impedance caps  k / d / ζ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20 / 18 / 2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20 / 18 / 2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Impedance dims (rest = free flow)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4 of 4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6 of 7  (gripper-exempt)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Learning rate  /  batch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1e-3  /  256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1e-3  /  128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Epochs per arm·seed  ×  seeds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300 × 3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100 × 3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Demos per task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Eval protocol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10 rollouts/task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20 episodes/task</a:t>
                      </a:r>
                    </a:p>
                  </a:txBody>
                  <a:tcPr anchor="ctr" marL="109728" marR="54864" marT="18288" marB="18288">
                    <a:solidFill>
                      <a:srgbClr val="F2F6F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E2630"/>
                          </a:solidFill>
                          <a:latin typeface="Calibri"/>
                        </a:rPr>
                        <a:t>Total epochs trained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1,800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E2630"/>
                          </a:solidFill>
                          <a:latin typeface="Calibri"/>
                        </a:rPr>
                        <a:t>6,000</a:t>
                      </a:r>
                    </a:p>
                  </a:txBody>
                  <a:tcPr anchor="ctr" marL="109728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9" name="Picture 8" descr="fig_param_bud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728" y="2132884"/>
            <a:ext cx="4565599" cy="222647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440680"/>
            <a:ext cx="10874959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1F77B4"/>
                </a:solidFill>
                <a:latin typeface="Calibri"/>
              </a:rPr>
              <a:t>Param-matched by construction: </a:t>
            </a:r>
            <a:r>
              <a:rPr sz="1400" b="0" i="0">
                <a:solidFill>
                  <a:srgbClr val="1E2630"/>
                </a:solidFill>
                <a:latin typeface="Calibri"/>
              </a:rPr>
              <a:t>the vanilla arm's hidden width is sized so its parameter count matches (or exceeds) the impedance arm — </a:t>
            </a:r>
            <a:r>
              <a:rPr sz="1400" b="1" i="0">
                <a:solidFill>
                  <a:srgbClr val="1E2630"/>
                </a:solidFill>
                <a:latin typeface="Calibri"/>
              </a:rPr>
              <a:t>the only difference is the drift parameterization, not capacity.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1">
                <a:solidFill>
                  <a:srgbClr val="5B6470"/>
                </a:solidFill>
                <a:latin typeface="Calibri"/>
              </a:rPr>
              <a:t>Identical training objective (differentiable rollout-matching MSE + small jerk penalty), identical data, 3 seeds. MetaWorld is state-conditioned (no image encoder); LIBERO adds a shared 238.6k CNN encoder to both arms.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  ·  PRIMARY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peg-insert-side: a textbook sample-efficiency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1473194"/>
            <a:ext cx="10984687" cy="3262387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1_peg_sample_effici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528058"/>
            <a:ext cx="10874959" cy="315265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4937760"/>
            <a:ext cx="3442106" cy="1325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504748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+22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5650992"/>
            <a:ext cx="307634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success @ 10 demos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(30% → 52%)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4794" y="4937760"/>
            <a:ext cx="3442106" cy="1325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7674" y="504748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−42%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7674" y="5650992"/>
            <a:ext cx="307634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lower action jerk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at low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1220" y="4937760"/>
            <a:ext cx="3442106" cy="1325880"/>
          </a:xfrm>
          <a:prstGeom prst="roundRect">
            <a:avLst>
              <a:gd name="adj" fmla="val 6000"/>
            </a:avLst>
          </a:prstGeom>
          <a:solidFill>
            <a:srgbClr val="EAF1F8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4100" y="5047488"/>
            <a:ext cx="307634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−18%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4100" y="5650992"/>
            <a:ext cx="307634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peak contact force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@ matched success (n=25)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EXPLAINABLE SIMULATION  · 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Impedance inserts where vanilla misses — 10 demos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2316327" y="1472184"/>
            <a:ext cx="7559039" cy="3749039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eg_rollout_compar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62047" y="1517904"/>
            <a:ext cx="7467599" cy="3657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775807" y="3026664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75807" y="29260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2047" y="5230368"/>
            <a:ext cx="74675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▶  click to play in Slide Show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440680"/>
            <a:ext cx="1087495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1E2630"/>
                </a:solidFill>
                <a:latin typeface="Calibri"/>
              </a:rPr>
              <a:t>MuJoCo peg-insert, identical seeds, both arms trained on just 10 demos (3 episodes shown). </a:t>
            </a:r>
            <a:r>
              <a:rPr sz="1500" b="1" i="0">
                <a:solidFill>
                  <a:srgbClr val="1F77B4"/>
                </a:solidFill>
                <a:latin typeface="Calibri"/>
              </a:rPr>
              <a:t>Impedance succeeds where vanilla fails.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5B6470"/>
                </a:solidFill>
                <a:latin typeface="Calibri"/>
              </a:rPr>
              <a:t>Note: the live force gauge reads higher for impedance here precisely because it makes the insertion contact that vanilla misses — the −18% compliance number is the matched-success comparison on the previous slide.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  ·  SECONDARY TASK (HONEST SCOPE)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door-open saturates — so the prior is redundant there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3" y="1679046"/>
            <a:ext cx="6852202" cy="3060995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2_door_seco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3910"/>
            <a:ext cx="6742474" cy="29512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35841" y="1737360"/>
            <a:ext cx="3697486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WHY THIS MATTERS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1" i="0">
                <a:solidFill>
                  <a:srgbClr val="1E2630"/>
                </a:solidFill>
                <a:latin typeface="Calibri"/>
              </a:rPr>
              <a:t>Door-open is easy from state</a:t>
            </a:r>
            <a:r>
              <a:rPr sz="1400" b="0" i="0">
                <a:solidFill>
                  <a:srgbClr val="5B6470"/>
                </a:solidFill>
                <a:latin typeface="Calibri"/>
              </a:rPr>
              <a:t> — vanilla already hits 82% at 10 demos. No sample-efficiency headroom → </a:t>
            </a:r>
            <a:r>
              <a:rPr sz="1400" b="1" i="0">
                <a:solidFill>
                  <a:srgbClr val="5B6470"/>
                </a:solidFill>
                <a:latin typeface="Calibri"/>
              </a:rPr>
              <a:t>the two arms tie on success.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The impedance prior helps exactly where </a:t>
            </a:r>
            <a:r>
              <a:rPr sz="1400" b="1" i="0">
                <a:solidFill>
                  <a:srgbClr val="1F77B4"/>
                </a:solidFill>
                <a:latin typeface="Calibri"/>
              </a:rPr>
              <a:t>physics is the bottleneck</a:t>
            </a:r>
            <a:r>
              <a:rPr sz="1400" b="0" i="0">
                <a:solidFill>
                  <a:srgbClr val="5B6470"/>
                </a:solidFill>
                <a:latin typeface="Calibri"/>
              </a:rPr>
              <a:t> (tight-tolerance insertion) and is harmlessly redundant where it isn't.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1E2630"/>
                </a:solidFill>
                <a:latin typeface="Calibri"/>
              </a:rPr>
              <a:t>That is the honest, expected signature of a good structural prior — not a universal +X%.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Stage-1 results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645920"/>
          <a:ext cx="10908792" cy="3383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2743200"/>
                <a:gridCol w="2788920"/>
                <a:gridCol w="2359152"/>
              </a:tblGrid>
              <a:tr h="65836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Setting</a:t>
                      </a:r>
                    </a:p>
                  </a:txBody>
                  <a:tcPr anchor="ctr" marL="128016" marR="73152" marT="27432" marB="27432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Success  (van → imp)</a:t>
                      </a:r>
                    </a:p>
                  </a:txBody>
                  <a:tcPr anchor="ctr" marL="128016" marR="73152" marT="27432" marB="27432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Action jerk  (van → imp)</a:t>
                      </a:r>
                    </a:p>
                  </a:txBody>
                  <a:tcPr anchor="ctr" marL="128016" marR="73152" marT="27432" marB="27432">
                    <a:solidFill>
                      <a:srgbClr val="1F77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Calibri"/>
                        </a:rPr>
                        <a:t>Peak force  (van → imp)</a:t>
                      </a:r>
                    </a:p>
                  </a:txBody>
                  <a:tcPr anchor="ctr" marL="128016" marR="73152" marT="27432" marB="27432">
                    <a:solidFill>
                      <a:srgbClr val="1F77B4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630"/>
                          </a:solidFill>
                          <a:latin typeface="Calibri"/>
                        </a:rPr>
                        <a:t>peg-insert · 10 demos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17A46"/>
                          </a:solidFill>
                          <a:latin typeface="Calibri"/>
                        </a:rPr>
                        <a:t>30% → 52%   (+22pp)</a:t>
                      </a:r>
                    </a:p>
                  </a:txBody>
                  <a:tcPr anchor="ctr" marL="128016" marR="73152" marT="27432" marB="27432">
                    <a:solidFill>
                      <a:srgbClr val="DDF0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0.99 → 0.57   (−42%)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509 → 674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630"/>
                          </a:solidFill>
                          <a:latin typeface="Calibri"/>
                        </a:rPr>
                        <a:t>peg-insert · 25 demos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74% → 73%   (tie)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0.41 → 0.24   (−41%)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536 → 441   (−18%)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630"/>
                          </a:solidFill>
                          <a:latin typeface="Calibri"/>
                        </a:rPr>
                        <a:t>peg-insert · 100 demos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88% → 88%   (saturated)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0.19 → 0.26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443 → 403</a:t>
                      </a:r>
                    </a:p>
                  </a:txBody>
                  <a:tcPr anchor="ctr" marL="128016" marR="73152" marT="27432" marB="27432">
                    <a:solidFill>
                      <a:srgbClr val="FFFFFF"/>
                    </a:solidFill>
                  </a:tcPr>
                </a:tc>
              </a:tr>
              <a:tr h="68122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E2630"/>
                          </a:solidFill>
                          <a:latin typeface="Calibri"/>
                        </a:rPr>
                        <a:t>door-open · 100 demos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93% → 93%   (tie)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0.18 → 0.14   (−22%)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E2630"/>
                          </a:solidFill>
                          <a:latin typeface="Calibri"/>
                        </a:rPr>
                        <a:t>2202 → 2199</a:t>
                      </a:r>
                    </a:p>
                  </a:txBody>
                  <a:tcPr anchor="ctr" marL="128016" marR="73152" marT="27432" marB="27432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58368" y="5212080"/>
            <a:ext cx="1087495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1">
                <a:solidFill>
                  <a:srgbClr val="5B6470"/>
                </a:solidFill>
                <a:latin typeface="Calibri"/>
              </a:rPr>
              <a:t>matched ~400k params · identical training objective · 3 seeds · 30 eval episodes.   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77B4"/>
                </a:solidFill>
                <a:latin typeface="Calibri"/>
              </a:rPr>
              <a:t>Read: </a:t>
            </a:r>
            <a:r>
              <a:rPr sz="1350" b="0" i="0">
                <a:solidFill>
                  <a:srgbClr val="1E2630"/>
                </a:solidFill>
                <a:latin typeface="Calibri"/>
              </a:rPr>
              <a:t>a big low-data gain that closes as data saturates (sample efficiency), smoother actions at low data, lower force at matched success — the structural prior helps where physics matters.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EXPLAINABLE SIMULATION  ·  METAWORLD MT10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All 10 tasks — left: baseline (vanilla)   |   right: ours (impedance)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641348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reach-v3_baseline_vs_our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3232" y="1664208"/>
            <a:ext cx="2065263" cy="10958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2047543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87494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reach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5363" y="1641348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ush-v3_baseline_vs_our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88223" y="1664208"/>
            <a:ext cx="2065263" cy="10958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88223" y="2047543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3359" y="2787494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push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355" y="1641348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k-place-v3_baseline_vs_our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063215" y="1664208"/>
            <a:ext cx="2065263" cy="10958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63215" y="2047543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8351" y="2787494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pick-place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5347" y="1641348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door-open-v3_baseline_vs_ours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238207" y="1664208"/>
            <a:ext cx="2065263" cy="10958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8207" y="2047543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3343" y="2787494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door-open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0339" y="1641348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drawer-open-v3_baseline_vs_ours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413199" y="1664208"/>
            <a:ext cx="2065263" cy="109585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13199" y="2047543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8335" y="2787494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drawer-open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" y="3726179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drawer-close-v3_baseline_vs_ours.mp4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713232" y="3749039"/>
            <a:ext cx="2065263" cy="109585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3232" y="4132375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872326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drawer-close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5363" y="3726179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button-press-topdown-v3_baseline_vs_ours.mp4">
            <a:hlinkClick r:id="" action="ppaction://media"/>
          </p:cNvPr>
          <p:cNvPicPr>
            <a:picLocks noChangeAspect="1"/>
          </p:cNvPicPr>
          <p:nvPr>
            <a:videoFile r:link="rId21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2888223" y="3749039"/>
            <a:ext cx="2065263" cy="109585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88223" y="4132375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3359" y="4872326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button-press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0355" y="3726179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eg-insert-side-v3_baseline_vs_ours.mp4">
            <a:hlinkClick r:id="" action="ppaction://media"/>
          </p:cNvPr>
          <p:cNvPicPr>
            <a:picLocks noChangeAspect="1"/>
          </p:cNvPicPr>
          <p:nvPr>
            <a:vide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5063215" y="3749039"/>
            <a:ext cx="2065263" cy="1095854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63215" y="4132375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8351" y="4872326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peg-insert-side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15347" y="3726179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window-open-v3_baseline_vs_ours.mp4">
            <a:hlinkClick r:id="" action="ppaction://media"/>
          </p:cNvPr>
          <p:cNvPicPr>
            <a:picLocks noChangeAspect="1"/>
          </p:cNvPicPr>
          <p:nvPr>
            <a:videoFile r:link="rId27"/>
            <p:extLst>
              <p:ext uri="{DAA4B4D4-6D71-4841-9C94-3DE7FCFB9230}">
                <p14:media xmlns:p14="http://schemas.microsoft.com/office/powerpoint/2010/main" r:embed="rId26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7238207" y="3749039"/>
            <a:ext cx="2065263" cy="109585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38207" y="4132375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3343" y="4872326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window-open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90339" y="3726179"/>
            <a:ext cx="2110983" cy="1141574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window-close-v3_baseline_vs_ours.mp4">
            <a:hlinkClick r:id="" action="ppaction://media"/>
          </p:cNvPr>
          <p:cNvPicPr>
            <a:picLocks noChangeAspect="1"/>
          </p:cNvPicPr>
          <p:nvPr>
            <a:vide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9413199" y="3749039"/>
            <a:ext cx="2065263" cy="109585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413199" y="4132375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8335" y="4872326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window-close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44068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3 seeds × 10 rollouts/task. 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MT10 is largely saturated (8/10 tie at 100%) — the prior wins on the hard tasks (reach 83→100%, peg-insert 77→80%) and never meaningfully regresses.  Mean 96.0% → 97.7%.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RESULT  ·  GENERALIZATION TO PIXELS +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It transfers to image-based contact tasks — with an honest real-scale anchor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948085" y="1517904"/>
            <a:ext cx="5075543" cy="3813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libero_3t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949" y="1572768"/>
            <a:ext cx="4965815" cy="3703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48345" y="1691640"/>
            <a:ext cx="4784982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3000" b="1" i="0">
                <a:solidFill>
                  <a:srgbClr val="1F77B4"/>
                </a:solidFill>
                <a:latin typeface="Calibri"/>
              </a:rPr>
              <a:t>+20.0 pp</a:t>
            </a:r>
            <a:r>
              <a:rPr sz="1400" b="0" i="0">
                <a:solidFill>
                  <a:srgbClr val="1E2630"/>
                </a:solidFill>
                <a:latin typeface="Calibri"/>
              </a:rPr>
              <a:t>  from the drift structure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LIBERO-Object, vision-based contact-rich pick-&amp;-place. Vanilla 28.2% → impedance 48.2% at matched ~0.7M, from scratch (10 tasks × 3 seeds × 20 eps). Ours has fewer params and stabilizes seeds.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345" y="3310128"/>
            <a:ext cx="4784982" cy="129844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5875">
            <a:solidFill>
              <a:srgbClr val="C8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945" y="3419856"/>
            <a:ext cx="432778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C88A00"/>
                </a:solidFill>
                <a:latin typeface="Calibri"/>
              </a:rPr>
              <a:t>Real-scale anchor:  </a:t>
            </a:r>
            <a:r>
              <a:rPr sz="1350" b="1" i="0">
                <a:solidFill>
                  <a:srgbClr val="1E2630"/>
                </a:solidFill>
                <a:latin typeface="Calibri"/>
              </a:rPr>
              <a:t>SmolVLA 450M = 90.5%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The 42-pp gap is scale + 800k-trajectory pretraining + language + 2 cameras — the axes we deliberately removed, not the method losing.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345" y="4736592"/>
            <a:ext cx="4784982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1F77B4"/>
                </a:solidFill>
                <a:latin typeface="Calibri"/>
              </a:rPr>
              <a:t>Genuinely visuomotor — </a:t>
            </a:r>
            <a:r>
              <a:rPr sz="1150" b="0" i="0">
                <a:solidFill>
                  <a:srgbClr val="1E2630"/>
                </a:solidFill>
                <a:latin typeface="Calibri"/>
              </a:rPr>
              <a:t>blinding the policy collapses it 80%→0% (not replay). And alphabet soup, SmolVLA's weakest (65%), is our arm's best (88%): the Stage-3 target.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EXPLAINABLE SIMULATION  ·  LIBERO-OBJECT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Watch it: impedance succeeds where vanilla fails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7" y="1768477"/>
            <a:ext cx="5300319" cy="2616957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task5_pick_up_the_tomato_sauce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58368" y="1814197"/>
            <a:ext cx="5208879" cy="252551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2942767" y="2756916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2767" y="265633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394578"/>
            <a:ext cx="520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▶  click to play in Slide Show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78727" y="1768477"/>
            <a:ext cx="5300319" cy="2616957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task0_pick_up_the_alphabet_soup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324447" y="1814197"/>
            <a:ext cx="5208879" cy="2525517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8608847" y="2756916"/>
            <a:ext cx="64008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08847" y="2656332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4447" y="4394578"/>
            <a:ext cx="52088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0"/>
                </a:solidFill>
                <a:latin typeface="Calibri"/>
              </a:rPr>
              <a:t>▶  click to play in Slide Show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074920"/>
            <a:ext cx="520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630"/>
                </a:solidFill>
                <a:latin typeface="Calibri"/>
              </a:rPr>
              <a:t>tomato sauce</a:t>
            </a:r>
            <a:r>
              <a:rPr sz="1400" b="0" i="0">
                <a:solidFill>
                  <a:srgbClr val="5B6470"/>
                </a:solidFill>
                <a:latin typeface="Calibri"/>
              </a:rPr>
              <a:t>    baseline 28% → </a:t>
            </a:r>
            <a:r>
              <a:rPr sz="1400" b="1" i="0">
                <a:solidFill>
                  <a:srgbClr val="1F77B4"/>
                </a:solidFill>
                <a:latin typeface="Calibri"/>
              </a:rPr>
              <a:t>ours 88%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4447" y="5074920"/>
            <a:ext cx="5208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E2630"/>
                </a:solidFill>
                <a:latin typeface="Calibri"/>
              </a:rPr>
              <a:t>alphabet soup</a:t>
            </a:r>
            <a:r>
              <a:rPr sz="1400" b="0" i="0">
                <a:solidFill>
                  <a:srgbClr val="5B6470"/>
                </a:solidFill>
                <a:latin typeface="Calibri"/>
              </a:rPr>
              <a:t>    baseline 37% → </a:t>
            </a:r>
            <a:r>
              <a:rPr sz="1400" b="1" i="0">
                <a:solidFill>
                  <a:srgbClr val="1F77B4"/>
                </a:solidFill>
                <a:latin typeface="Calibri"/>
              </a:rPr>
              <a:t>ours 88%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532120"/>
            <a:ext cx="10874959" cy="841248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532120"/>
            <a:ext cx="10326319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1E2630"/>
                </a:solidFill>
                <a:latin typeface="Calibri"/>
              </a:rPr>
              <a:t>Each clip:  left = </a:t>
            </a:r>
            <a:r>
              <a:rPr sz="1250" b="1" i="0">
                <a:solidFill>
                  <a:srgbClr val="5B6470"/>
                </a:solidFill>
                <a:latin typeface="Calibri"/>
              </a:rPr>
              <a:t>baseline (vanilla flow)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 ,  right = </a:t>
            </a:r>
            <a:r>
              <a:rPr sz="1250" b="1" i="0">
                <a:solidFill>
                  <a:srgbClr val="1F77B4"/>
                </a:solidFill>
                <a:latin typeface="Calibri"/>
              </a:rPr>
              <a:t>ours (impedance)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 , same scene &amp; seed. Ours makes a smooth, compliant approach and completes the place; vanilla fumbles or stalls. Blinding the policy collapses it 80%→0% — it is genuinely visuomotor, not replay.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EXPLAINABLE SIMULATION  ·  LIBERO-OBJECT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All 10 tasks — left: baseline (vanilla)   |   right: ours (impedance)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641348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task0_pick_up_the_alphabet_soup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13232" y="1664208"/>
            <a:ext cx="2065263" cy="10013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3232" y="2000286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92980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alphabet soup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65363" y="1641348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task1_pick_up_the_cream_cheese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888223" y="1664208"/>
            <a:ext cx="2065263" cy="10013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888223" y="2000286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3359" y="2692980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cream cheese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0355" y="1641348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task2_pick_up_the_salad_dressing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5063215" y="1664208"/>
            <a:ext cx="2065263" cy="10013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063215" y="2000286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08351" y="2692980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salad dressing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15347" y="1641348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ask3_pick_up_the_bbq_sauce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12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3"/>
          <a:stretch>
            <a:fillRect/>
          </a:stretch>
        </p:blipFill>
        <p:spPr>
          <a:xfrm>
            <a:off x="7238207" y="1664208"/>
            <a:ext cx="2065263" cy="10013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238207" y="2000286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83343" y="2692980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bbq sauce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0339" y="1641348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ask4_pick_up_the_ketchup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15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6"/>
          <a:stretch>
            <a:fillRect/>
          </a:stretch>
        </p:blipFill>
        <p:spPr>
          <a:xfrm>
            <a:off x="9413199" y="1664208"/>
            <a:ext cx="2065263" cy="10013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413199" y="2000286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8335" y="2692980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ketchup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0372" y="3726179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task5_pick_up_the_tomato_sauce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18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9"/>
          <a:stretch>
            <a:fillRect/>
          </a:stretch>
        </p:blipFill>
        <p:spPr>
          <a:xfrm>
            <a:off x="713232" y="3749039"/>
            <a:ext cx="2065263" cy="10013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13232" y="4085118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4777812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tomato sauce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65363" y="3726179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task6_pick_up_the_butter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21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2"/>
          <a:stretch>
            <a:fillRect/>
          </a:stretch>
        </p:blipFill>
        <p:spPr>
          <a:xfrm>
            <a:off x="2888223" y="3749039"/>
            <a:ext cx="2065263" cy="100134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888223" y="4085118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33359" y="4777812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butter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0355" y="3726179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task7_pick_up_the_milk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24"/>
            <p:extLst>
              <p:ext uri="{DAA4B4D4-6D71-4841-9C94-3DE7FCFB9230}">
                <p14:media xmlns:p14="http://schemas.microsoft.com/office/powerpoint/2010/main" r:embed="rId23"/>
              </p:ext>
            </p:extLst>
          </p:nvPr>
        </p:nvPicPr>
        <p:blipFill>
          <a:blip r:embed="rId25"/>
          <a:stretch>
            <a:fillRect/>
          </a:stretch>
        </p:blipFill>
        <p:spPr>
          <a:xfrm>
            <a:off x="5063215" y="3749039"/>
            <a:ext cx="2065263" cy="100134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5063215" y="4085118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08351" y="4777812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milk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15347" y="3726179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task8_pick_up_the_chocolate_pudding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27"/>
            <p:extLst>
              <p:ext uri="{DAA4B4D4-6D71-4841-9C94-3DE7FCFB9230}">
                <p14:media xmlns:p14="http://schemas.microsoft.com/office/powerpoint/2010/main" r:embed="rId26"/>
              </p:ext>
            </p:extLst>
          </p:nvPr>
        </p:nvPicPr>
        <p:blipFill>
          <a:blip r:embed="rId28"/>
          <a:stretch>
            <a:fillRect/>
          </a:stretch>
        </p:blipFill>
        <p:spPr>
          <a:xfrm>
            <a:off x="7238207" y="3749039"/>
            <a:ext cx="2065263" cy="100134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238207" y="4085118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83343" y="4777812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chocolate pudding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90339" y="3726179"/>
            <a:ext cx="2110983" cy="1047060"/>
          </a:xfrm>
          <a:prstGeom prst="rect">
            <a:avLst/>
          </a:prstGeom>
          <a:solidFill>
            <a:srgbClr val="1E26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task9_pick_up_the_orange_juice_and_place_it_in_the_basket_baseline_vs_ours.mp4">
            <a:hlinkClick r:id="" action="ppaction://media"/>
          </p:cNvPr>
          <p:cNvPicPr>
            <a:picLocks noChangeAspect="1"/>
          </p:cNvPicPr>
          <p:nvPr>
            <a:videoFile r:link="rId30"/>
            <p:extLst>
              <p:ext uri="{DAA4B4D4-6D71-4841-9C94-3DE7FCFB9230}">
                <p14:media xmlns:p14="http://schemas.microsoft.com/office/powerpoint/2010/main" r:embed="rId29"/>
              </p:ext>
            </p:extLst>
          </p:nvPr>
        </p:nvPicPr>
        <p:blipFill>
          <a:blip r:embed="rId31"/>
          <a:stretch>
            <a:fillRect/>
          </a:stretch>
        </p:blipFill>
        <p:spPr>
          <a:xfrm>
            <a:off x="9413199" y="3749039"/>
            <a:ext cx="2065263" cy="100134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413199" y="4085118"/>
            <a:ext cx="2065263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58335" y="4777812"/>
            <a:ext cx="217499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1E2630"/>
                </a:solidFill>
                <a:latin typeface="Calibri"/>
              </a:rPr>
              <a:t>orange juice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440680"/>
            <a:ext cx="1087495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5B6470"/>
                </a:solidFill>
                <a:latin typeface="Calibri"/>
              </a:rPr>
              <a:t>3 seeds × 20 episodes/task, vision-based, randomized object location. </a:t>
            </a:r>
            <a:r>
              <a:rPr sz="1250" b="0" i="0">
                <a:solidFill>
                  <a:srgbClr val="1E2630"/>
                </a:solidFill>
                <a:latin typeface="Calibri"/>
              </a:rPr>
              <a:t>Mean 28.2% → 48.2% (+20pp); biggest wins: alphabet soup 37→88, tomato sauce 28→88, salad dressing 15→62, butter 38→68.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1"/>
                </p:tgtEl>
              </p:cMediaNode>
            </p:video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25"/>
                </p:tgtEl>
              </p:cMediaNode>
            </p:video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  <p:video>
              <p:cMediaNode vol="80000">
                <p:cTn id="10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5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475488"/>
            <a:ext cx="128016" cy="603504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18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F77B4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76656"/>
            <a:ext cx="10618927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E2630"/>
                </a:solidFill>
                <a:latin typeface="Calibri"/>
              </a:rPr>
              <a:t>From Stage-1 proof to a contact-rich VLA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35024"/>
            <a:ext cx="10874959" cy="16459"/>
          </a:xfrm>
          <a:prstGeom prst="rect">
            <a:avLst/>
          </a:prstGeom>
          <a:solidFill>
            <a:srgbClr val="D7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473952"/>
            <a:ext cx="7612471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B6470"/>
                </a:solidFill>
                <a:latin typeface="Calibri"/>
              </a:rPr>
              <a:t>Impedance-Shaped Flow Matching for VLA Policies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36047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5B6470"/>
                </a:solidFill>
                <a:latin typeface="Calibri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0874959" cy="7315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9536" y="1728216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28216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517904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Stage-2 · conditioning ablation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30368" y="1517904"/>
            <a:ext cx="6120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5B6470"/>
                </a:solidFill>
                <a:latin typeface="Calibri"/>
              </a:rPr>
              <a:t>VLM-predicted M/K/D vs fixed; stiffness-output-only baseline — isolate what the structure buys.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304288"/>
            <a:ext cx="1087495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9536" y="251460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251460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304288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Stage-3 · scale to SmolVLA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30368" y="2304288"/>
            <a:ext cx="6120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5B6470"/>
                </a:solidFill>
                <a:latin typeface="Calibri"/>
              </a:rPr>
              <a:t>Port the impedance drift into the SmolVLA action expert with the full 2nd-order conditional flow matching.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090672"/>
            <a:ext cx="10874959" cy="7315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9536" y="330098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300984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090672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Primary benchmark · ManiSkill2/3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0368" y="3090672"/>
            <a:ext cx="6120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5B6470"/>
                </a:solidFill>
                <a:latin typeface="Calibri"/>
              </a:rPr>
              <a:t>PegInsertionSide, PlugCharger, TurnFaucet, AssemblyNut — reviewer-accepted contact suite. MetaWorld + LIBERO shown as transfer probes; ManiSkill is the primary contact target.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877056"/>
            <a:ext cx="10874959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59536" y="4087368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087368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877056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Efficiency angle · ODE steps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877056"/>
            <a:ext cx="6120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5B6470"/>
                </a:solidFill>
                <a:latin typeface="Calibri"/>
              </a:rPr>
              <a:t>5 vs 10 integration steps — same accuracy, fewer steps = lower latency.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4663440"/>
            <a:ext cx="10874959" cy="731520"/>
          </a:xfrm>
          <a:prstGeom prst="roundRect">
            <a:avLst>
              <a:gd name="adj" fmla="val 5000"/>
            </a:avLst>
          </a:prstGeom>
          <a:solidFill>
            <a:srgbClr val="F2F6FA"/>
          </a:solidFill>
          <a:ln w="12700">
            <a:solidFill>
              <a:srgbClr val="D7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" y="487375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9536" y="487375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663440"/>
            <a:ext cx="374903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1E2630"/>
                </a:solidFill>
                <a:latin typeface="Calibri"/>
              </a:rPr>
              <a:t>Credibility lever · real 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30368" y="4663440"/>
            <a:ext cx="6120079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80" b="0" i="0">
                <a:solidFill>
                  <a:srgbClr val="5B6470"/>
                </a:solidFill>
                <a:latin typeface="Calibri"/>
              </a:rPr>
              <a:t>Peg / USB insertion with a wrist F/T sensor.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486400"/>
            <a:ext cx="10874959" cy="4572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270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5486400"/>
            <a:ext cx="1032631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F77B4"/>
                </a:solidFill>
                <a:latin typeface="Calibri"/>
              </a:rPr>
              <a:t>Kill-gate:  </a:t>
            </a:r>
            <a:r>
              <a:rPr sz="1350" b="0" i="0">
                <a:solidFill>
                  <a:srgbClr val="1E2630"/>
                </a:solidFill>
                <a:latin typeface="Calibri"/>
              </a:rPr>
              <a:t>GO only if the ManiSkill contact subset shows ≥ +5pp over vanilla SmolVLA at matched params. Fail fast; report honestly.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4008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FB2D9"/>
                </a:solidFill>
                <a:latin typeface="Calibri"/>
              </a:rPr>
              <a:t>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600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888" y="1554480"/>
            <a:ext cx="100519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A genuinely new object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4CFDA"/>
                </a:solidFill>
                <a:latin typeface="Calibri"/>
              </a:rPr>
              <a:t>the flow-ODE drift made a closed-loop impedance law — not an external controller, not a post-hoc explanation. Prior-art-clear.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017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30175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2971800"/>
            <a:ext cx="100519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It works where it should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4CFDA"/>
                </a:solidFill>
                <a:latin typeface="Calibri"/>
              </a:rPr>
              <a:t>+22pp sample efficiency, −42% jerk, −18% force on tight-tolerance insertion — and +20pp on image-based LIBERO-Object contact tasks; redundant on easy/saturated tasks.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4348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F7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4434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4389120"/>
            <a:ext cx="1005199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Earned by discipline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4CFDA"/>
                </a:solidFill>
                <a:latin typeface="Calibri"/>
              </a:rPr>
              <a:t>toy gate → param-matched Stage-1 → SmolVLA next. The lesson from the abandoned project, applied: validate, gate, report honestly.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080760"/>
            <a:ext cx="10874959" cy="18288"/>
          </a:xfrm>
          <a:prstGeom prst="rect">
            <a:avLst/>
          </a:prstGeom>
          <a:solidFill>
            <a:srgbClr val="2C3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6217920"/>
            <a:ext cx="10874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Impedance-Shaped Flow Matching for VLA Policies</a:t>
            </a:r>
            <a:r>
              <a:rPr sz="1300" b="0" i="0">
                <a:solidFill>
                  <a:srgbClr val="9FADBC"/>
                </a:solidFill>
                <a:latin typeface="Calibri"/>
              </a:rPr>
              <a:t>    ·    IS Lab, CWNU    ·    2026-05-30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